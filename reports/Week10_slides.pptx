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23dca77cfba4091" /><Relationship Type="http://schemas.openxmlformats.org/officeDocument/2006/relationships/extended-properties" Target="/docProps/app.xml" Id="R10bcf9ebd8b14a83" /><Relationship Type="http://schemas.openxmlformats.org/officeDocument/2006/relationships/officeDocument" Target="/ppt/presentation.xml" Id="R2ffae82205ee4e6a" /></Relationships>
</file>

<file path=ppt/presentation.xml><?xml version="1.0" encoding="utf-8"?>
<p:presentation xmlns:p="http://schemas.openxmlformats.org/presentationml/2006/main">
  <p:sldMasterIdLst>
    <p:sldMasterId xmlns:r="http://schemas.openxmlformats.org/officeDocument/2006/relationships" id="2147483648" r:id="R31ba9e02e3ae441d"/>
  </p:sldMasterIdLst>
  <p:notesMasterIdLst>
    <p:notesMasterId xmlns:r="http://schemas.openxmlformats.org/officeDocument/2006/relationships" r:id="R468c657de8744fc5"/>
  </p:notesMasterIdLst>
  <p:sldIdLst>
    <p:sldId xmlns:r="http://schemas.openxmlformats.org/officeDocument/2006/relationships" id="256" r:id="R1546f85ea5104e7f"/>
    <p:sldId xmlns:r="http://schemas.openxmlformats.org/officeDocument/2006/relationships" id="257" r:id="R6df266265be64547"/>
    <p:sldId xmlns:r="http://schemas.openxmlformats.org/officeDocument/2006/relationships" id="258" r:id="R3d75f0c5d9384485"/>
    <p:sldId xmlns:r="http://schemas.openxmlformats.org/officeDocument/2006/relationships" id="259" r:id="R66e3a5090cac4826"/>
    <p:sldId xmlns:r="http://schemas.openxmlformats.org/officeDocument/2006/relationships" id="260" r:id="R1b9cbd0b5c6945c6"/>
    <p:sldId xmlns:r="http://schemas.openxmlformats.org/officeDocument/2006/relationships" id="261" r:id="Ra3fbd9605ec44e11"/>
    <p:sldId xmlns:r="http://schemas.openxmlformats.org/officeDocument/2006/relationships" id="262" r:id="Re40f587c51e044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cc8286aa6c64018" /><Relationship Type="http://schemas.openxmlformats.org/officeDocument/2006/relationships/slideMaster" Target="/ppt/slideMasters/slideMaster1.xml" Id="R31ba9e02e3ae441d" /><Relationship Type="http://schemas.openxmlformats.org/officeDocument/2006/relationships/notesMaster" Target="/ppt/notesMasters/notesMaster1.xml" Id="R468c657de8744fc5" /><Relationship Type="http://schemas.openxmlformats.org/officeDocument/2006/relationships/presProps" Target="/ppt/presProps.xml" Id="Rbcf3f62d1c1448eb" /><Relationship Type="http://schemas.openxmlformats.org/officeDocument/2006/relationships/tableStyles" Target="/ppt/tableStyles.xml" Id="R6f591bee15324c5f" /><Relationship Type="http://schemas.openxmlformats.org/officeDocument/2006/relationships/slide" Target="/ppt/slides/slide1.xml" Id="R1546f85ea5104e7f" /><Relationship Type="http://schemas.openxmlformats.org/officeDocument/2006/relationships/slide" Target="/ppt/slides/slide2.xml" Id="R6df266265be64547" /><Relationship Type="http://schemas.openxmlformats.org/officeDocument/2006/relationships/slide" Target="/ppt/slides/slide3.xml" Id="R3d75f0c5d9384485" /><Relationship Type="http://schemas.openxmlformats.org/officeDocument/2006/relationships/slide" Target="/ppt/slides/slide4.xml" Id="R66e3a5090cac4826" /><Relationship Type="http://schemas.openxmlformats.org/officeDocument/2006/relationships/slide" Target="/ppt/slides/slide5.xml" Id="R1b9cbd0b5c6945c6" /><Relationship Type="http://schemas.openxmlformats.org/officeDocument/2006/relationships/slide" Target="/ppt/slides/slide6.xml" Id="Ra3fbd9605ec44e11" /><Relationship Type="http://schemas.openxmlformats.org/officeDocument/2006/relationships/slide" Target="/ppt/slides/slide7.xml" Id="Re40f587c51e044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ed332450ed34a9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5511eb0bdba4527" /><Relationship Type="http://schemas.openxmlformats.org/officeDocument/2006/relationships/notesMaster" Target="/ppt/notesMasters/notesMaster1.xml" Id="R75ffb9172a8a42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fc89ad212b04330" /><Relationship Type="http://schemas.openxmlformats.org/officeDocument/2006/relationships/notesMaster" Target="/ppt/notesMasters/notesMaster1.xml" Id="Rb9ea86d5b5814ae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5268af8274424c" /><Relationship Type="http://schemas.openxmlformats.org/officeDocument/2006/relationships/notesMaster" Target="/ppt/notesMasters/notesMaster1.xml" Id="Rb73dc8866c2d4a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aeeada535f4c5e" /><Relationship Type="http://schemas.openxmlformats.org/officeDocument/2006/relationships/notesMaster" Target="/ppt/notesMasters/notesMaster1.xml" Id="Rac06c85a848c47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75ac35fd3f466d" /><Relationship Type="http://schemas.openxmlformats.org/officeDocument/2006/relationships/notesMaster" Target="/ppt/notesMasters/notesMaster1.xml" Id="R5b99749a206b4db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e5fb1747ef490d" /><Relationship Type="http://schemas.openxmlformats.org/officeDocument/2006/relationships/notesMaster" Target="/ppt/notesMasters/notesMaster1.xml" Id="Rbefd947ea3924360" /></Relationships>
</file>

<file path=ppt/notesSlides/_rels/notesSlide7.xml.rels>&#65279;<?xml version="1.0" encoding="utf-8"?><Relationships xmlns="http://schemas.openxmlformats.org/package/2006/relationships"><Relationship Type="http://schemas.openxmlformats.org/officeDocument/2006/relationships/slide" Target="/ppt/slides/slide7.xml" Id="R7215daf518a34b81" /><Relationship Type="http://schemas.openxmlformats.org/officeDocument/2006/relationships/notesMaster" Target="/ppt/notesMasters/notesMaster1.xml" Id="Rdf9a107cda2e4d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interim milestone, not the finished 15-week project. The final contribution remains a hypothesis. Group identifier and member names are pending actual information. Source: https://archive.ics.uci.edu/dataset/849/power+consumption+of+tetouan+city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Chart data: monthly means computed directly from the downloaded original CSV, including all observed periods; this descriptive chart is not model fitting. Original variables table does not confirm measurement units. UCI lists 52,417 instances while the downloaded CSV has 52,416 data rows. Source: https://archive.ics.uci.edu/dataset/849/power+consumption+of+tetouan+city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Temporal boundaries use the original series 70% and 85% positions. Warm-up and boundary purging alter actual proportions. Train last target 12 Sep 19:00; validation first origin 19:10. Validation last target 6 Nov 09:20; test first origin 09:30. Four tests cover temporal boundaries, future-information invariance, undefined recall when no positives exist, and conservative score ties. Provisional split is a course coordination requirement.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sources: reports/regression_validation.csv and reports/regression_test.csv, generated by src/gridwatch/experiment.py. Linear validation MAE318.988078; test357.312608. Persistence test776.603903. Relative MAE reduction53.991660%. Equal-weight average over zone MAEs. Classroom candidates: Linear, Ridge, Lasso, KNN, Decision Tree, Random Forest. Baselines: persistence and previous day. Batch timing is not a single-request latency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reports/alerts_test.csv. Direct models: zone1Perceptron, zone2LinearSVM, zone3Alwaysnormal placeholder. Zone1 false alarms210direct vs347forecastscore. Zone2falsealarms316direct vs417forecastscore. Test FPRs differ despite the shared validationbudget, so this is not proof of improvement at equal test false alarms. Research label uses eachzone training90th percentile, notcapacity. Counts are ten-minute samples and are temporallycorrelated. Recall is unavailable forzeroactualpositives.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reports/ablation_validation.csv. Full318.988078, withoutweather318.879746, withoutdemandhistory4881.074843. Removed demandhistory means all columns starting withzone_, including currentdemands. Remaininginputsarecalendar andweather. Removingweatheronly fiveoriginalweatherfields. Resultsare descriptive ononevalidationwindow and donotestablishcausality orstatisticalsignificance.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Plannedonly: neuralmodelschapter11; regimeclusteringchapter12; chapter13missing; featureselectionPCAchapter14; anomalygatefallbackchapter15. Extendto60minutesand agreedrollingvalidation. Existingclustering workmeansclusteringaloneisnotnovel. Alsalem etal2025: https://www.nature.com/articles/s41598-025-91123-8 . Next evaluation must demonstratethecontribution, notrelyonUIfeaturecount. Officialgroup/membercontributionspending.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1cc0be4001e4af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dc710ec907404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4874e81eaec49f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35a35781dc147c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1b05acceb0a42d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ee2f8a93a254a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3D04496-726E-442B-A6CF-2F910B6BBD6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53F6C68-F890-4E01-B175-B08E386C365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299DD42-E662-4894-9337-1AF3BA7A6A1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AF6573-2425-4257-BD5B-395895271EB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308F3C5-2A81-4407-961C-A7063B7AC4A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AF4C84-E39D-434D-A5A6-1B8CE6151F2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797CD1-1F0F-4D46-B4B6-A6779F4C88B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3A07A2D-2319-48C4-BDC6-297544879FA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705DC37-CBBE-4F41-A395-C2D4892CF8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E36AF53-2686-4344-8CCB-B22BC14AF74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c8dd7b57ebd4837" /><Relationship Type="http://schemas.openxmlformats.org/officeDocument/2006/relationships/slideLayout" Target="/ppt/slideLayouts/slideLayout1.xml" Id="R7b16cdf3c83f44f8" /><Relationship Type="http://schemas.openxmlformats.org/officeDocument/2006/relationships/slideLayout" Target="/ppt/slideLayouts/slideLayout2.xml" Id="R3325a95eba5545d8" /><Relationship Type="http://schemas.openxmlformats.org/officeDocument/2006/relationships/slideLayout" Target="/ppt/slideLayouts/slideLayout3.xml" Id="Rd0b461391f8443e1" /><Relationship Type="http://schemas.openxmlformats.org/officeDocument/2006/relationships/slideLayout" Target="/ppt/slideLayouts/slideLayout4.xml" Id="R6ddc0027c6074dfa" /><Relationship Type="http://schemas.openxmlformats.org/officeDocument/2006/relationships/slideLayout" Target="/ppt/slideLayouts/slideLayout5.xml" Id="R67a854a5abd8494c" /><Relationship Type="http://schemas.openxmlformats.org/officeDocument/2006/relationships/slideLayout" Target="/ppt/slideLayouts/slideLayout6.xml" Id="R483f6059ca3b4f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16cdf3c83f44f8"/>
    <p:sldLayoutId xmlns:r="http://schemas.openxmlformats.org/officeDocument/2006/relationships" id="2147483650" r:id="R3325a95eba5545d8"/>
    <p:sldLayoutId xmlns:r="http://schemas.openxmlformats.org/officeDocument/2006/relationships" id="2147483651" r:id="Rd0b461391f8443e1"/>
    <p:sldLayoutId xmlns:r="http://schemas.openxmlformats.org/officeDocument/2006/relationships" id="2147483652" r:id="R6ddc0027c6074dfa"/>
    <p:sldLayoutId xmlns:r="http://schemas.openxmlformats.org/officeDocument/2006/relationships" id="2147483653" r:id="R67a854a5abd8494c"/>
    <p:sldLayoutId xmlns:r="http://schemas.openxmlformats.org/officeDocument/2006/relationships" id="2147483654" r:id="R483f6059ca3b4f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ca9a364d5794b59" /><Relationship Type="http://schemas.openxmlformats.org/officeDocument/2006/relationships/notesSlide" Target="/ppt/notesSlides/notesSlide1.xml" Id="R4154afe03c8f442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312d9c0bfe54cb6" /><Relationship Type="http://schemas.openxmlformats.org/officeDocument/2006/relationships/chart" Target="/ppt/slides/charts/chart1.xml" Id="R15ab797c304b44c7" /><Relationship Type="http://schemas.openxmlformats.org/officeDocument/2006/relationships/notesSlide" Target="/ppt/notesSlides/notesSlide2.xml" Id="Re2b90074e2e4440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c47c530aa684a16" /><Relationship Type="http://schemas.openxmlformats.org/officeDocument/2006/relationships/notesSlide" Target="/ppt/notesSlides/notesSlide3.xml" Id="R74c7bc087f0e4229"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24c8a17178d4e03" /><Relationship Type="http://schemas.openxmlformats.org/officeDocument/2006/relationships/chart" Target="/ppt/slides/charts/chart2.xml" Id="Rc23464447d184e4e" /><Relationship Type="http://schemas.openxmlformats.org/officeDocument/2006/relationships/notesSlide" Target="/ppt/notesSlides/notesSlide4.xml" Id="R79ec0ce6804341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cca8603edd44325" /><Relationship Type="http://schemas.openxmlformats.org/officeDocument/2006/relationships/notesSlide" Target="/ppt/notesSlides/notesSlide5.xml" Id="R526b6fbca6554d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6a9d72df7654b48" /><Relationship Type="http://schemas.openxmlformats.org/officeDocument/2006/relationships/notesSlide" Target="/ppt/notesSlides/notesSlide6.xml" Id="Re495b6afdec74aa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ad9f19ddeef4cb3" /><Relationship Type="http://schemas.openxmlformats.org/officeDocument/2006/relationships/notesSlide" Target="/ppt/notesSlides/notesSlide7.xml" Id="Ra8376f0371694b03" /></Relationships>
</file>

<file path=ppt/slides/charts/chart1.xml><?xml version="1.0" encoding="utf-8"?>
<c:chartSpace xmlns:c="http://schemas.openxmlformats.org/drawingml/2006/chart">
  <c:lang val="en-US"/>
  <c:chart>
    <c:plotArea>
      <c:lineChart>
        <c:grouping val="standard"/>
        <c:varyColors val="0"/>
        <c:ser>
          <c:idx val="0"/>
          <c:order val="0"/>
          <c:tx>
            <c:v>zone 1</c:v>
          </c:tx>
          <c:spPr>
            <a:solidFill xmlns:a="http://schemas.openxmlformats.org/drawingml/2006/main">
              <a:srgbClr val="2563EB"/>
            </a:solidFill>
          </c:spPr>
          <c:marker>
            <c:symbol val="none"/>
          </c:marker>
          <c:cat>
            <c:strLit>
              <c:ptCount val="12"/>
              <c:pt idx="0">
                <c:v>Jan</c:v>
              </c:pt>
              <c:pt idx="1">
                <c:v>Feb</c:v>
              </c:pt>
              <c:pt idx="2">
                <c:v>Mar</c:v>
              </c:pt>
              <c:pt idx="3">
                <c:v>Apr</c:v>
              </c:pt>
              <c:pt idx="4">
                <c:v>May</c:v>
              </c:pt>
              <c:pt idx="5">
                <c:v>Jun</c:v>
              </c:pt>
              <c:pt idx="6">
                <c:v>Jul</c:v>
              </c:pt>
              <c:pt idx="7">
                <c:v>Aug</c:v>
              </c:pt>
              <c:pt idx="8">
                <c:v>Sep</c:v>
              </c:pt>
              <c:pt idx="9">
                <c:v>Oct</c:v>
              </c:pt>
              <c:pt idx="10">
                <c:v>Nov</c:v>
              </c:pt>
              <c:pt idx="11">
                <c:v>Dec</c:v>
              </c:pt>
            </c:strLit>
          </c:cat>
          <c:val>
            <c:numLit>
              <c:formatCode>General</c:formatCode>
              <c:ptCount val="12"/>
              <c:pt idx="0">
                <c:v>31032.493534737903</c:v>
              </c:pt>
              <c:pt idx="1">
                <c:v>30985.75363200893</c:v>
              </c:pt>
              <c:pt idx="2">
                <c:v>31155.165408326615</c:v>
              </c:pt>
              <c:pt idx="3">
                <c:v>31169.768209534726</c:v>
              </c:pt>
              <c:pt idx="4">
                <c:v>32396.00916627912</c:v>
              </c:pt>
              <c:pt idx="5">
                <c:v>34605.540838831024</c:v>
              </c:pt>
              <c:pt idx="6">
                <c:v>35831.55360271505</c:v>
              </c:pt>
              <c:pt idx="7">
                <c:v>36435.18957430331</c:v>
              </c:pt>
              <c:pt idx="8">
                <c:v>33396.681415875</c:v>
              </c:pt>
              <c:pt idx="9">
                <c:v>32827.6600550336</c:v>
              </c:pt>
              <c:pt idx="10">
                <c:v>29002.106837657408</c:v>
              </c:pt>
              <c:pt idx="11">
                <c:v>29024.16842696065</c:v>
              </c:pt>
            </c:numLit>
          </c:val>
        </c:ser>
        <c:ser>
          <c:idx val="1"/>
          <c:order val="1"/>
          <c:tx>
            <c:v>zone 2</c:v>
          </c:tx>
          <c:spPr>
            <a:solidFill xmlns:a="http://schemas.openxmlformats.org/drawingml/2006/main">
              <a:srgbClr val="059669"/>
            </a:solidFill>
          </c:spPr>
          <c:marker>
            <c:symbol val="none"/>
          </c:marker>
          <c:cat>
            <c:strLit>
              <c:ptCount val="12"/>
              <c:pt idx="0">
                <c:v>Jan</c:v>
              </c:pt>
              <c:pt idx="1">
                <c:v>Feb</c:v>
              </c:pt>
              <c:pt idx="2">
                <c:v>Mar</c:v>
              </c:pt>
              <c:pt idx="3">
                <c:v>Apr</c:v>
              </c:pt>
              <c:pt idx="4">
                <c:v>May</c:v>
              </c:pt>
              <c:pt idx="5">
                <c:v>Jun</c:v>
              </c:pt>
              <c:pt idx="6">
                <c:v>Jul</c:v>
              </c:pt>
              <c:pt idx="7">
                <c:v>Aug</c:v>
              </c:pt>
              <c:pt idx="8">
                <c:v>Sep</c:v>
              </c:pt>
              <c:pt idx="9">
                <c:v>Oct</c:v>
              </c:pt>
              <c:pt idx="10">
                <c:v>Nov</c:v>
              </c:pt>
              <c:pt idx="11">
                <c:v>Dec</c:v>
              </c:pt>
            </c:strLit>
          </c:cat>
          <c:val>
            <c:numLit>
              <c:formatCode>General</c:formatCode>
              <c:ptCount val="12"/>
              <c:pt idx="0">
                <c:v>19394.444716780243</c:v>
              </c:pt>
              <c:pt idx="1">
                <c:v>18787.79309591493</c:v>
              </c:pt>
              <c:pt idx="2">
                <c:v>18457.93748364292</c:v>
              </c:pt>
              <c:pt idx="3">
                <c:v>17633.966395110187</c:v>
              </c:pt>
              <c:pt idx="4">
                <c:v>19977.28785913172</c:v>
              </c:pt>
              <c:pt idx="5">
                <c:v>20670.92862104236</c:v>
              </c:pt>
              <c:pt idx="6">
                <c:v>24147.886892549282</c:v>
              </c:pt>
              <c:pt idx="7">
                <c:v>24656.216575288978</c:v>
              </c:pt>
              <c:pt idx="8">
                <c:v>20180.432259252317</c:v>
              </c:pt>
              <c:pt idx="9">
                <c:v>21468.993441328406</c:v>
              </c:pt>
              <c:pt idx="10">
                <c:v>23240.46401509491</c:v>
              </c:pt>
              <c:pt idx="11">
                <c:v>23681.852817803243</c:v>
              </c:pt>
            </c:numLit>
          </c:val>
        </c:ser>
        <c:ser>
          <c:idx val="2"/>
          <c:order val="2"/>
          <c:tx>
            <c:v>zone 3</c:v>
          </c:tx>
          <c:spPr>
            <a:solidFill xmlns:a="http://schemas.openxmlformats.org/drawingml/2006/main">
              <a:srgbClr val="B45309"/>
            </a:solidFill>
          </c:spPr>
          <c:marker>
            <c:symbol val="none"/>
          </c:marker>
          <c:cat>
            <c:strLit>
              <c:ptCount val="12"/>
              <c:pt idx="0">
                <c:v>Jan</c:v>
              </c:pt>
              <c:pt idx="1">
                <c:v>Feb</c:v>
              </c:pt>
              <c:pt idx="2">
                <c:v>Mar</c:v>
              </c:pt>
              <c:pt idx="3">
                <c:v>Apr</c:v>
              </c:pt>
              <c:pt idx="4">
                <c:v>May</c:v>
              </c:pt>
              <c:pt idx="5">
                <c:v>Jun</c:v>
              </c:pt>
              <c:pt idx="6">
                <c:v>Jul</c:v>
              </c:pt>
              <c:pt idx="7">
                <c:v>Aug</c:v>
              </c:pt>
              <c:pt idx="8">
                <c:v>Sep</c:v>
              </c:pt>
              <c:pt idx="9">
                <c:v>Oct</c:v>
              </c:pt>
              <c:pt idx="10">
                <c:v>Nov</c:v>
              </c:pt>
              <c:pt idx="11">
                <c:v>Dec</c:v>
              </c:pt>
            </c:strLit>
          </c:cat>
          <c:val>
            <c:numLit>
              <c:formatCode>General</c:formatCode>
              <c:ptCount val="12"/>
              <c:pt idx="0">
                <c:v>17746.095349150986</c:v>
              </c:pt>
              <c:pt idx="1">
                <c:v>17335.002153600944</c:v>
              </c:pt>
              <c:pt idx="2">
                <c:v>16947.686004158375</c:v>
              </c:pt>
              <c:pt idx="3">
                <c:v>18593.167676819445</c:v>
              </c:pt>
              <c:pt idx="4">
                <c:v>17621.10095335932</c:v>
              </c:pt>
              <c:pt idx="5">
                <c:v>20430.94153836574</c:v>
              </c:pt>
              <c:pt idx="6">
                <c:v>28194.11121609991</c:v>
              </c:pt>
              <c:pt idx="7">
                <c:v>24648.89473151232</c:v>
              </c:pt>
              <c:pt idx="8">
                <c:v>14922.798774305324</c:v>
              </c:pt>
              <c:pt idx="9">
                <c:v>13264.095172722224</c:v>
              </c:pt>
              <c:pt idx="10">
                <c:v>12862.496653221991</c:v>
              </c:pt>
              <c:pt idx="11">
                <c:v>11044.805922327314</c:v>
              </c:pt>
            </c:numLit>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350">
                    <a:latin typeface="Arial"/>
                    <a:ea typeface="Arial"/>
                    <a:cs typeface="Arial"/>
                  </a:rPr>
                  <a:t>Month</a:t>
                </a:r>
              </a:p>
            </c:rich>
          </c:tx>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scaling>
        <c:delete val="0"/>
        <c:axPos val="l"/>
        <c:majorGridlines>
          <c:spPr>
            <a:ln xmlns:a="http://schemas.openxmlformats.org/drawingml/2006/main" w="9525">
              <a:solidFill>
                <a:srgbClr val="DBE4EE"/>
              </a:solidFill>
            </a:ln>
          </c:spPr>
        </c:majorGridlines>
        <c:title>
          <c:tx>
            <c:rich>
              <a:bodyPr xmlns:a="http://schemas.openxmlformats.org/drawingml/2006/main"/>
              <a:lstStyle xmlns:a="http://schemas.openxmlformats.org/drawingml/2006/main"/>
              <a:p xmlns:a="http://schemas.openxmlformats.org/drawingml/2006/main">
                <a:r>
                  <a:rPr sz="1350">
                    <a:latin typeface="Arial"/>
                    <a:ea typeface="Arial"/>
                    <a:cs typeface="Arial"/>
                  </a:rPr>
                  <a:t>Mean demand (source units)</a:t>
                </a:r>
              </a:p>
            </c:rich>
          </c:tx>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chartSpace>
</file>

<file path=ppt/slides/charts/chart2.xml><?xml version="1.0" encoding="utf-8"?>
<c:chartSpace xmlns:c="http://schemas.openxmlformats.org/drawingml/2006/chart">
  <c:lang val="en-US"/>
  <c:chart>
    <c:title>
      <c:tx>
        <c:rich>
          <a:bodyPr xmlns:a="http://schemas.openxmlformats.org/drawingml/2006/main"/>
          <a:lstStyle xmlns:a="http://schemas.openxmlformats.org/drawingml/2006/main"/>
          <a:p xmlns:a="http://schemas.openxmlformats.org/drawingml/2006/main">
            <a:r>
              <a:rPr sz="1500">
                <a:latin typeface="Arial"/>
                <a:ea typeface="Arial"/>
                <a:cs typeface="Arial"/>
              </a:rPr>
              <a:t>Validation MAE (source units)</a:t>
            </a:r>
          </a:p>
        </c:rich>
      </c:tx>
      <c:overlay val="0"/>
      <c:txPr>
        <a:bodyPr xmlns:a="http://schemas.openxmlformats.org/drawingml/2006/main" anchorCtr="1"/>
        <a:lstStyle xmlns:a="http://schemas.openxmlformats.org/drawingml/2006/main"/>
        <a:p xmlns:a="http://schemas.openxmlformats.org/drawingml/2006/main">
          <a:pPr>
            <a:defRPr sz="1500">
              <a:latin typeface="Arial"/>
              <a:ea typeface="Arial"/>
              <a:cs typeface="Arial"/>
            </a:defRPr>
          </a:pPr>
        </a:p>
      </c:txPr>
    </c:title>
    <c:plotArea>
      <c:barChart>
        <c:barDir val="bar"/>
        <c:grouping val="clustered"/>
        <c:varyColors val="0"/>
        <c:ser>
          <c:idx val="0"/>
          <c:order val="0"/>
          <c:tx>
            <c:v>Validation MAE</c:v>
          </c:tx>
          <c:spPr>
            <a:solidFill xmlns:a="http://schemas.openxmlformats.org/drawingml/2006/main">
              <a:srgbClr val="2563EB"/>
            </a:solidFill>
          </c:spPr>
          <c:cat>
            <c:strLit>
              <c:ptCount val="8"/>
              <c:pt idx="0">
                <c:v>Linear</c:v>
              </c:pt>
              <c:pt idx="1">
                <c:v>Lasso</c:v>
              </c:pt>
              <c:pt idx="2">
                <c:v>Ridge</c:v>
              </c:pt>
              <c:pt idx="3">
                <c:v>Persistence</c:v>
              </c:pt>
              <c:pt idx="4">
                <c:v>Previous day</c:v>
              </c:pt>
              <c:pt idx="5">
                <c:v>Random Forest</c:v>
              </c:pt>
              <c:pt idx="6">
                <c:v>Decision Tree</c:v>
              </c:pt>
              <c:pt idx="7">
                <c:v>KNN</c:v>
              </c:pt>
            </c:strLit>
          </c:cat>
          <c:val>
            <c:numLit>
              <c:formatCode>General</c:formatCode>
              <c:ptCount val="8"/>
              <c:pt idx="0">
                <c:v>318.9880780701971</c:v>
              </c:pt>
              <c:pt idx="1">
                <c:v>338.7264919070138</c:v>
              </c:pt>
              <c:pt idx="2">
                <c:v>351.44841290171365</c:v>
              </c:pt>
              <c:pt idx="3">
                <c:v>791.3185285166475</c:v>
              </c:pt>
              <c:pt idx="4">
                <c:v>1024.453404736226</c:v>
              </c:pt>
              <c:pt idx="5">
                <c:v>1223.0194365772568</c:v>
              </c:pt>
              <c:pt idx="6">
                <c:v>1543.1489225723333</c:v>
              </c:pt>
              <c:pt idx="7">
                <c:v>1698.7976521490602</c:v>
              </c:pt>
            </c:numLit>
          </c:val>
        </c:ser>
        <c:dLbls>
          <c:numFmt formatCode="0" sourceLinked="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dLblPos val="outEnd"/>
          <c:showLegendKey val="0"/>
          <c:showVal val="1"/>
          <c:showCatName val="0"/>
          <c:showSerName val="0"/>
          <c:showPercent val="0"/>
          <c:showBubbleSize val="0"/>
          <c:showLeaderLines val="0"/>
        </c:dLbls>
        <c:gapWidth val="50"/>
        <c:axId val="48650112"/>
        <c:axId val="48672768"/>
      </c:barChart>
      <c:catAx>
        <c:axId val="48650112"/>
        <c:scaling>
          <c:orientation val="minMax"/>
        </c:scaling>
        <c:delete val="0"/>
        <c:axPos val="l"/>
        <c:majorGridlines>
          <c:spPr>
            <a:ln xmlns:a="http://schemas.openxmlformats.org/drawingml/2006/main" w="9525">
              <a:solidFill>
                <a:srgbClr val="DBE4EE"/>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8D07067-40FE-4A0D-B003-B273C94FE05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563EB"/>
          </a:solidFill>
          <a:ln xmlns:a="http://schemas.openxmlformats.org/drawingml/2006/main" w="0">
            <a:noFill/>
          </a:ln>
        </p:spPr>
      </p:sp>
      <p:sp>
        <p:nvSpPr>
          <p:cNvPr id="2" name="Tetouan GridWatch">
            <a:extLst xmlns:a="http://schemas.openxmlformats.org/drawingml/2006/main">
              <a:ext uri="{FF2B5EF4-FFF2-40B4-BE49-F238E27FC236}">
                <a16:creationId xmlns:a16="http://schemas.microsoft.com/office/drawing/2014/main" id="{8F7206DE-8C15-47C9-8661-D2216337D54A}"/>
              </a:ext>
            </a:extLst>
          </p:cNvPr>
          <p:cNvSpPr>
            <a:spLocks xmlns:a="http://schemas.openxmlformats.org/drawingml/2006/main" noGrp="1"/>
          </p:cNvSpPr>
          <p:nvPr/>
        </p:nvSpPr>
        <p:spPr>
          <a:xfrm xmlns:a="http://schemas.openxmlformats.org/drawingml/2006/main">
            <a:off x="552450" y="40005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5243B"/>
                </a:solidFill>
                <a:latin typeface="Arial"/>
                <a:ea typeface="Arial"/>
                <a:cs typeface="Arial"/>
              </a:defRPr>
            </a:defPPr>
          </a:lstStyle>
          <a:p xmlns:a="http://schemas.openxmlformats.org/drawingml/2006/main">
            <a:pPr>
              <a:defRPr sz="2850" b="1">
                <a:solidFill>
                  <a:srgbClr val="15243B"/>
                </a:solidFill>
                <a:latin typeface="Arial"/>
                <a:ea typeface="Arial"/>
                <a:cs typeface="Arial"/>
              </a:defRPr>
            </a:pPr>
            <a:r>
              <a:rPr sz="2850" b="1">
                <a:solidFill>
                  <a:srgbClr val="15243B"/>
                </a:solidFill>
                <a:latin typeface="Arial"/>
                <a:ea typeface="Arial"/>
                <a:cs typeface="Arial"/>
              </a:rPr>
              <a:t>Tetouan GridWatch</a:t>
            </a:r>
          </a:p>
        </p:txBody>
      </p:sp>
      <p:sp>
        <p:nvSpPr>
          <p:cNvPr id="3" name="A working classroom benchmark throu">
            <a:extLst xmlns:a="http://schemas.openxmlformats.org/drawingml/2006/main">
              <a:ext uri="{FF2B5EF4-FFF2-40B4-BE49-F238E27FC236}">
                <a16:creationId xmlns:a16="http://schemas.microsoft.com/office/drawing/2014/main" id="{B7C428D6-DD88-4DC3-A964-574C32FF896F}"/>
              </a:ext>
            </a:extLst>
          </p:cNvPr>
          <p:cNvSpPr>
            <a:spLocks xmlns:a="http://schemas.openxmlformats.org/drawingml/2006/main" noGrp="1"/>
          </p:cNvSpPr>
          <p:nvPr/>
        </p:nvSpPr>
        <p:spPr>
          <a:xfrm xmlns:a="http://schemas.openxmlformats.org/drawingml/2006/main">
            <a:off x="571500" y="10668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579"/>
                </a:solidFill>
                <a:latin typeface="Arial"/>
                <a:ea typeface="Arial"/>
                <a:cs typeface="Arial"/>
              </a:defRPr>
            </a:defPPr>
          </a:lstStyle>
          <a:p xmlns:a="http://schemas.openxmlformats.org/drawingml/2006/main">
            <a:pPr>
              <a:defRPr sz="1575" b="0">
                <a:solidFill>
                  <a:srgbClr val="536579"/>
                </a:solidFill>
                <a:latin typeface="Arial"/>
                <a:ea typeface="Arial"/>
                <a:cs typeface="Arial"/>
              </a:defRPr>
            </a:pPr>
            <a:r>
              <a:rPr sz="1575" b="0">
                <a:solidFill>
                  <a:srgbClr val="536579"/>
                </a:solidFill>
                <a:latin typeface="Arial"/>
                <a:ea typeface="Arial"/>
                <a:cs typeface="Arial"/>
              </a:rPr>
              <a:t>A working classroom benchmark through chapter 10</a:t>
            </a:r>
          </a:p>
        </p:txBody>
      </p:sp>
      <p:sp>
        <p:nvSpPr>
          <p:cNvPr id="4" name="">
            <a:extLst xmlns:a="http://schemas.openxmlformats.org/drawingml/2006/main">
              <a:ext uri="{FF2B5EF4-FFF2-40B4-BE49-F238E27FC236}">
                <a16:creationId xmlns:a16="http://schemas.microsoft.com/office/drawing/2014/main" id="{297375B1-A30D-4829-8688-A0541BAE1729}"/>
              </a:ext>
            </a:extLst>
          </p:cNvPr>
          <p:cNvSpPr>
            <a:spLocks xmlns:a="http://schemas.openxmlformats.org/drawingml/2006/main" noGrp="1"/>
          </p:cNvSpPr>
          <p:nvPr/>
        </p:nvSpPr>
        <p:spPr>
          <a:xfrm xmlns:a="http://schemas.openxmlformats.org/drawingml/2006/main">
            <a:off x="571500" y="6324600"/>
            <a:ext cx="11049000" cy="9525"/>
          </a:xfrm>
          <a:prstGeom xmlns:a="http://schemas.openxmlformats.org/drawingml/2006/main" prst="rect">
            <a:avLst/>
          </a:prstGeom>
          <a:solidFill xmlns:a="http://schemas.openxmlformats.org/drawingml/2006/main">
            <a:srgbClr val="DBE4EE"/>
          </a:solidFill>
          <a:ln xmlns:a="http://schemas.openxmlformats.org/drawingml/2006/main" w="0">
            <a:noFill/>
          </a:ln>
        </p:spPr>
      </p:sp>
      <p:sp>
        <p:nvSpPr>
          <p:cNvPr id="5" name="Tetouan GridWatch  /  Week 10 progr">
            <a:extLst xmlns:a="http://schemas.openxmlformats.org/drawingml/2006/main">
              <a:ext uri="{FF2B5EF4-FFF2-40B4-BE49-F238E27FC236}">
                <a16:creationId xmlns:a16="http://schemas.microsoft.com/office/drawing/2014/main" id="{49928F22-2321-4192-8216-0B7734AA6CD8}"/>
              </a:ext>
            </a:extLst>
          </p:cNvPr>
          <p:cNvSpPr>
            <a:spLocks xmlns:a="http://schemas.openxmlformats.org/drawingml/2006/main" noGrp="1"/>
          </p:cNvSpPr>
          <p:nvPr/>
        </p:nvSpPr>
        <p:spPr>
          <a:xfrm xmlns:a="http://schemas.openxmlformats.org/drawingml/2006/main">
            <a:off x="571500" y="647700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6579"/>
                </a:solidFill>
                <a:latin typeface="Arial"/>
                <a:ea typeface="Arial"/>
                <a:cs typeface="Arial"/>
              </a:defRPr>
            </a:defPPr>
          </a:lstStyle>
          <a:p xmlns:a="http://schemas.openxmlformats.org/drawingml/2006/main">
            <a:pPr>
              <a:defRPr sz="1125" b="0">
                <a:solidFill>
                  <a:srgbClr val="536579"/>
                </a:solidFill>
                <a:latin typeface="Arial"/>
                <a:ea typeface="Arial"/>
                <a:cs typeface="Arial"/>
              </a:defRPr>
            </a:pPr>
            <a:r>
              <a:rPr sz="1125" b="0">
                <a:solidFill>
                  <a:srgbClr val="536579"/>
                </a:solidFill>
                <a:latin typeface="Arial"/>
                <a:ea typeface="Arial"/>
                <a:cs typeface="Arial"/>
              </a:rPr>
              <a:t>Tetouan GridWatch  /  Week 10 progress  /  8 October 2026</a:t>
            </a:r>
          </a:p>
        </p:txBody>
      </p:sp>
      <p:sp>
        <p:nvSpPr>
          <p:cNvPr id="6" name="01">
            <a:extLst xmlns:a="http://schemas.openxmlformats.org/drawingml/2006/main">
              <a:ext uri="{FF2B5EF4-FFF2-40B4-BE49-F238E27FC236}">
                <a16:creationId xmlns:a16="http://schemas.microsoft.com/office/drawing/2014/main" id="{0E19D97A-4002-4757-B77F-2FF1CEA5308A}"/>
              </a:ext>
            </a:extLst>
          </p:cNvPr>
          <p:cNvSpPr>
            <a:spLocks xmlns:a="http://schemas.openxmlformats.org/drawingml/2006/main" noGrp="1"/>
          </p:cNvSpPr>
          <p:nvPr/>
        </p:nvSpPr>
        <p:spPr>
          <a:xfrm xmlns:a="http://schemas.openxmlformats.org/drawingml/2006/main">
            <a:off x="11144250" y="64770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6579"/>
                </a:solidFill>
                <a:latin typeface="Arial"/>
                <a:ea typeface="Arial"/>
                <a:cs typeface="Arial"/>
              </a:defRPr>
            </a:defPPr>
          </a:lstStyle>
          <a:p xmlns:a="http://schemas.openxmlformats.org/drawingml/2006/main">
            <a:pPr>
              <a:defRPr sz="1125" b="0">
                <a:solidFill>
                  <a:srgbClr val="536579"/>
                </a:solidFill>
                <a:latin typeface="Arial"/>
                <a:ea typeface="Arial"/>
                <a:cs typeface="Arial"/>
              </a:defRPr>
            </a:pPr>
            <a:r>
              <a:rPr sz="1125" b="0">
                <a:solidFill>
                  <a:srgbClr val="536579"/>
                </a:solidFill>
                <a:latin typeface="Arial"/>
                <a:ea typeface="Arial"/>
                <a:cs typeface="Arial"/>
              </a:rPr>
              <a:t>01</a:t>
            </a:r>
          </a:p>
        </p:txBody>
      </p:sp>
      <p:sp>
        <p:nvSpPr>
          <p:cNvPr id="7" name="Electricity demand&#10;30 minutes ahead">
            <a:extLst xmlns:a="http://schemas.openxmlformats.org/drawingml/2006/main">
              <a:ext uri="{FF2B5EF4-FFF2-40B4-BE49-F238E27FC236}">
                <a16:creationId xmlns:a16="http://schemas.microsoft.com/office/drawing/2014/main" id="{B955971C-7E87-45BD-821C-8AF11419958F}"/>
              </a:ext>
            </a:extLst>
          </p:cNvPr>
          <p:cNvSpPr>
            <a:spLocks xmlns:a="http://schemas.openxmlformats.org/drawingml/2006/main" noGrp="1"/>
          </p:cNvSpPr>
          <p:nvPr/>
        </p:nvSpPr>
        <p:spPr>
          <a:xfrm xmlns:a="http://schemas.openxmlformats.org/drawingml/2006/main">
            <a:off x="571500" y="1981200"/>
            <a:ext cx="6477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050" b="1">
                <a:solidFill>
                  <a:srgbClr val="15243B"/>
                </a:solidFill>
                <a:latin typeface="Arial"/>
                <a:ea typeface="Arial"/>
                <a:cs typeface="Arial"/>
              </a:defRPr>
            </a:defPPr>
          </a:lstStyle>
          <a:p xmlns:a="http://schemas.openxmlformats.org/drawingml/2006/main">
            <a:pPr>
              <a:defRPr sz="4050" b="1">
                <a:solidFill>
                  <a:srgbClr val="15243B"/>
                </a:solidFill>
                <a:latin typeface="Arial"/>
                <a:ea typeface="Arial"/>
                <a:cs typeface="Arial"/>
              </a:defRPr>
            </a:pPr>
            <a:r>
              <a:rPr sz="4050" b="1">
                <a:solidFill>
                  <a:srgbClr val="15243B"/>
                </a:solidFill>
                <a:latin typeface="Arial"/>
                <a:ea typeface="Arial"/>
                <a:cs typeface="Arial"/>
              </a:rPr>
              <a:t>Electricity demand</a:t>
            </a:r>
          </a:p>
          <a:p xmlns:a="http://schemas.openxmlformats.org/drawingml/2006/main">
            <a:pPr>
              <a:defRPr sz="4050" b="1">
                <a:solidFill>
                  <a:srgbClr val="15243B"/>
                </a:solidFill>
                <a:latin typeface="Arial"/>
                <a:ea typeface="Arial"/>
                <a:cs typeface="Arial"/>
              </a:defRPr>
            </a:pPr>
            <a:r>
              <a:rPr sz="4050" b="1">
                <a:solidFill>
                  <a:srgbClr val="15243B"/>
                </a:solidFill>
                <a:latin typeface="Arial"/>
                <a:ea typeface="Arial"/>
                <a:cs typeface="Arial"/>
              </a:rPr>
              <a:t>30 minutes ahead</a:t>
            </a:r>
          </a:p>
        </p:txBody>
      </p:sp>
      <p:sp>
        <p:nvSpPr>
          <p:cNvPr id="8" name="Three distribution zones in Tetouan">
            <a:extLst xmlns:a="http://schemas.openxmlformats.org/drawingml/2006/main">
              <a:ext uri="{FF2B5EF4-FFF2-40B4-BE49-F238E27FC236}">
                <a16:creationId xmlns:a16="http://schemas.microsoft.com/office/drawing/2014/main" id="{D7711DED-97CF-443A-B24B-3DF9F078F1CF}"/>
              </a:ext>
            </a:extLst>
          </p:cNvPr>
          <p:cNvSpPr>
            <a:spLocks xmlns:a="http://schemas.openxmlformats.org/drawingml/2006/main" noGrp="1"/>
          </p:cNvSpPr>
          <p:nvPr/>
        </p:nvSpPr>
        <p:spPr>
          <a:xfrm xmlns:a="http://schemas.openxmlformats.org/drawingml/2006/main">
            <a:off x="609600" y="3790950"/>
            <a:ext cx="6858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0">
                <a:solidFill>
                  <a:srgbClr val="536579"/>
                </a:solidFill>
                <a:latin typeface="Arial"/>
                <a:ea typeface="Arial"/>
                <a:cs typeface="Arial"/>
              </a:defRPr>
            </a:defPPr>
          </a:lstStyle>
          <a:p xmlns:a="http://schemas.openxmlformats.org/drawingml/2006/main">
            <a:pPr>
              <a:defRPr sz="2100" b="0">
                <a:solidFill>
                  <a:srgbClr val="536579"/>
                </a:solidFill>
                <a:latin typeface="Arial"/>
                <a:ea typeface="Arial"/>
                <a:cs typeface="Arial"/>
              </a:defRPr>
            </a:pPr>
            <a:r>
              <a:rPr sz="2100" b="0">
                <a:solidFill>
                  <a:srgbClr val="536579"/>
                </a:solidFill>
                <a:latin typeface="Arial"/>
                <a:ea typeface="Arial"/>
                <a:cs typeface="Arial"/>
              </a:rPr>
              <a:t>Three distribution zones in Tetouan</a:t>
            </a:r>
          </a:p>
          <a:p xmlns:a="http://schemas.openxmlformats.org/drawingml/2006/main">
            <a:pPr>
              <a:defRPr sz="2100" b="0">
                <a:solidFill>
                  <a:srgbClr val="536579"/>
                </a:solidFill>
                <a:latin typeface="Arial"/>
                <a:ea typeface="Arial"/>
                <a:cs typeface="Arial"/>
              </a:defRPr>
            </a:pPr>
            <a:r>
              <a:rPr sz="2100" b="0">
                <a:solidFill>
                  <a:srgbClr val="536579"/>
                </a:solidFill>
                <a:latin typeface="Arial"/>
                <a:ea typeface="Arial"/>
                <a:cs typeface="Arial"/>
              </a:rPr>
              <a:t>Forecasts plus a separate high-demand alert</a:t>
            </a:r>
          </a:p>
        </p:txBody>
      </p:sp>
      <p:sp>
        <p:nvSpPr>
          <p:cNvPr id="9" name="">
            <a:extLst xmlns:a="http://schemas.openxmlformats.org/drawingml/2006/main">
              <a:ext uri="{FF2B5EF4-FFF2-40B4-BE49-F238E27FC236}">
                <a16:creationId xmlns:a16="http://schemas.microsoft.com/office/drawing/2014/main" id="{53743409-EE1F-4BB0-96C6-20849EC186EF}"/>
              </a:ext>
            </a:extLst>
          </p:cNvPr>
          <p:cNvSpPr>
            <a:spLocks xmlns:a="http://schemas.openxmlformats.org/drawingml/2006/main" noGrp="1"/>
          </p:cNvSpPr>
          <p:nvPr/>
        </p:nvSpPr>
        <p:spPr>
          <a:xfrm xmlns:a="http://schemas.openxmlformats.org/drawingml/2006/main">
            <a:off x="8096250" y="1943100"/>
            <a:ext cx="3429000" cy="3333750"/>
          </a:xfrm>
          <a:prstGeom xmlns:a="http://schemas.openxmlformats.org/drawingml/2006/main" prst="rect">
            <a:avLst/>
          </a:prstGeom>
          <a:solidFill xmlns:a="http://schemas.openxmlformats.org/drawingml/2006/main">
            <a:srgbClr val="F1F5F9"/>
          </a:solidFill>
          <a:ln xmlns:a="http://schemas.openxmlformats.org/drawingml/2006/main" w="0">
            <a:noFill/>
          </a:ln>
        </p:spPr>
      </p:sp>
      <p:sp>
        <p:nvSpPr>
          <p:cNvPr id="10" name="Completed today">
            <a:extLst xmlns:a="http://schemas.openxmlformats.org/drawingml/2006/main">
              <a:ext uri="{FF2B5EF4-FFF2-40B4-BE49-F238E27FC236}">
                <a16:creationId xmlns:a16="http://schemas.microsoft.com/office/drawing/2014/main" id="{41A3DF0C-C832-44BC-8B0F-FD4ADCFE476D}"/>
              </a:ext>
            </a:extLst>
          </p:cNvPr>
          <p:cNvSpPr>
            <a:spLocks xmlns:a="http://schemas.openxmlformats.org/drawingml/2006/main" noGrp="1"/>
          </p:cNvSpPr>
          <p:nvPr/>
        </p:nvSpPr>
        <p:spPr>
          <a:xfrm xmlns:a="http://schemas.openxmlformats.org/drawingml/2006/main">
            <a:off x="8382000" y="2190750"/>
            <a:ext cx="2781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563EB"/>
                </a:solidFill>
                <a:latin typeface="Arial"/>
                <a:ea typeface="Arial"/>
                <a:cs typeface="Arial"/>
              </a:defRPr>
            </a:defPPr>
          </a:lstStyle>
          <a:p xmlns:a="http://schemas.openxmlformats.org/drawingml/2006/main">
            <a:pPr>
              <a:defRPr sz="2100" b="1">
                <a:solidFill>
                  <a:srgbClr val="2563EB"/>
                </a:solidFill>
                <a:latin typeface="Arial"/>
                <a:ea typeface="Arial"/>
                <a:cs typeface="Arial"/>
              </a:defRPr>
            </a:pPr>
            <a:r>
              <a:rPr sz="2100" b="1">
                <a:solidFill>
                  <a:srgbClr val="2563EB"/>
                </a:solidFill>
                <a:latin typeface="Arial"/>
                <a:ea typeface="Arial"/>
                <a:cs typeface="Arial"/>
              </a:rPr>
              <a:t>Completed today</a:t>
            </a:r>
          </a:p>
        </p:txBody>
      </p:sp>
      <p:sp>
        <p:nvSpPr>
          <p:cNvPr id="11" name="Audited data&#10;Temporal evaluation&#10;Co">
            <a:extLst xmlns:a="http://schemas.openxmlformats.org/drawingml/2006/main">
              <a:ext uri="{FF2B5EF4-FFF2-40B4-BE49-F238E27FC236}">
                <a16:creationId xmlns:a16="http://schemas.microsoft.com/office/drawing/2014/main" id="{E9E6D6B6-8343-4DED-8967-6EECBC5CF212}"/>
              </a:ext>
            </a:extLst>
          </p:cNvPr>
          <p:cNvSpPr>
            <a:spLocks xmlns:a="http://schemas.openxmlformats.org/drawingml/2006/main" noGrp="1"/>
          </p:cNvSpPr>
          <p:nvPr/>
        </p:nvSpPr>
        <p:spPr>
          <a:xfrm xmlns:a="http://schemas.openxmlformats.org/drawingml/2006/main">
            <a:off x="8382000" y="2819400"/>
            <a:ext cx="27813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15243B"/>
                </a:solidFill>
                <a:latin typeface="Arial"/>
                <a:ea typeface="Arial"/>
                <a:cs typeface="Arial"/>
              </a:defRPr>
            </a:defPPr>
          </a:lstStyle>
          <a:p xmlns:a="http://schemas.openxmlformats.org/drawingml/2006/main">
            <a:pPr>
              <a:defRPr sz="2025" b="0">
                <a:solidFill>
                  <a:srgbClr val="15243B"/>
                </a:solidFill>
                <a:latin typeface="Arial"/>
                <a:ea typeface="Arial"/>
                <a:cs typeface="Arial"/>
              </a:defRPr>
            </a:pPr>
            <a:r>
              <a:rPr sz="2025" b="0">
                <a:solidFill>
                  <a:srgbClr val="15243B"/>
                </a:solidFill>
                <a:latin typeface="Arial"/>
                <a:ea typeface="Arial"/>
                <a:cs typeface="Arial"/>
              </a:rPr>
              <a:t>Audited data</a:t>
            </a:r>
          </a:p>
          <a:p xmlns:a="http://schemas.openxmlformats.org/drawingml/2006/main">
            <a:pPr>
              <a:defRPr sz="2025" b="0">
                <a:solidFill>
                  <a:srgbClr val="15243B"/>
                </a:solidFill>
                <a:latin typeface="Arial"/>
                <a:ea typeface="Arial"/>
                <a:cs typeface="Arial"/>
              </a:defRPr>
            </a:pPr>
            <a:r>
              <a:rPr sz="2025" b="0">
                <a:solidFill>
                  <a:srgbClr val="15243B"/>
                </a:solidFill>
                <a:latin typeface="Arial"/>
                <a:ea typeface="Arial"/>
                <a:cs typeface="Arial"/>
              </a:rPr>
              <a:t>Temporal evaluation</a:t>
            </a:r>
          </a:p>
          <a:p xmlns:a="http://schemas.openxmlformats.org/drawingml/2006/main">
            <a:pPr>
              <a:defRPr sz="2025" b="0">
                <a:solidFill>
                  <a:srgbClr val="15243B"/>
                </a:solidFill>
                <a:latin typeface="Arial"/>
                <a:ea typeface="Arial"/>
                <a:cs typeface="Arial"/>
              </a:defRPr>
            </a:pPr>
            <a:r>
              <a:rPr sz="2025" b="0">
                <a:solidFill>
                  <a:srgbClr val="15243B"/>
                </a:solidFill>
                <a:latin typeface="Arial"/>
                <a:ea typeface="Arial"/>
                <a:cs typeface="Arial"/>
              </a:rPr>
              <a:t>Compared models</a:t>
            </a:r>
          </a:p>
          <a:p xmlns:a="http://schemas.openxmlformats.org/drawingml/2006/main">
            <a:pPr>
              <a:defRPr sz="2025" b="0">
                <a:solidFill>
                  <a:srgbClr val="15243B"/>
                </a:solidFill>
                <a:latin typeface="Arial"/>
                <a:ea typeface="Arial"/>
                <a:cs typeface="Arial"/>
              </a:defRPr>
            </a:pPr>
            <a:r>
              <a:rPr sz="2025" b="0">
                <a:solidFill>
                  <a:srgbClr val="15243B"/>
                </a:solidFill>
                <a:latin typeface="Arial"/>
                <a:ea typeface="Arial"/>
                <a:cs typeface="Arial"/>
              </a:rPr>
              <a:t>Historical replay demo</a:t>
            </a:r>
          </a:p>
        </p:txBody>
      </p:sp>
      <p:sp>
        <p:nvSpPr>
          <p:cNvPr id="12" name="Final research directions: regime a">
            <a:extLst xmlns:a="http://schemas.openxmlformats.org/drawingml/2006/main">
              <a:ext uri="{FF2B5EF4-FFF2-40B4-BE49-F238E27FC236}">
                <a16:creationId xmlns:a16="http://schemas.microsoft.com/office/drawing/2014/main" id="{160D8549-1597-4927-A2EC-A5077B134FB7}"/>
              </a:ext>
            </a:extLst>
          </p:cNvPr>
          <p:cNvSpPr>
            <a:spLocks xmlns:a="http://schemas.openxmlformats.org/drawingml/2006/main" noGrp="1"/>
          </p:cNvSpPr>
          <p:nvPr/>
        </p:nvSpPr>
        <p:spPr>
          <a:xfrm xmlns:a="http://schemas.openxmlformats.org/drawingml/2006/main">
            <a:off x="609600" y="553402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5243B"/>
                </a:solidFill>
                <a:latin typeface="Arial"/>
                <a:ea typeface="Arial"/>
                <a:cs typeface="Arial"/>
              </a:defRPr>
            </a:defPPr>
          </a:lstStyle>
          <a:p xmlns:a="http://schemas.openxmlformats.org/drawingml/2006/main">
            <a:pPr>
              <a:defRPr sz="1875" b="0">
                <a:solidFill>
                  <a:srgbClr val="15243B"/>
                </a:solidFill>
                <a:latin typeface="Arial"/>
                <a:ea typeface="Arial"/>
                <a:cs typeface="Arial"/>
              </a:defRPr>
            </a:pPr>
            <a:r>
              <a:rPr sz="1875" b="0">
                <a:solidFill>
                  <a:srgbClr val="15243B"/>
                </a:solidFill>
                <a:latin typeface="Arial"/>
                <a:ea typeface="Arial"/>
                <a:cs typeface="Arial"/>
              </a:rPr>
              <a:t>Final research directions: regime adaptation and a reliability gate with fallback.</a:t>
            </a:r>
          </a:p>
        </p:txBody>
      </p:sp>
    </p:spTree>
    <p:extLst>
      <p:ext uri="{BB962C8B-B14F-4D97-AF65-F5344CB8AC3E}">
        <p14:creationId xmlns:p14="http://schemas.microsoft.com/office/powerpoint/2010/main" val="10029070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52EB502-5117-40CB-B925-420A20C8EFF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563EB"/>
          </a:solidFill>
          <a:ln xmlns:a="http://schemas.openxmlformats.org/drawingml/2006/main" w="0">
            <a:noFill/>
          </a:ln>
        </p:spPr>
      </p:sp>
      <p:sp>
        <p:nvSpPr>
          <p:cNvPr id="2" name="The data reveal different seasonal ">
            <a:extLst xmlns:a="http://schemas.openxmlformats.org/drawingml/2006/main">
              <a:ext uri="{FF2B5EF4-FFF2-40B4-BE49-F238E27FC236}">
                <a16:creationId xmlns:a16="http://schemas.microsoft.com/office/drawing/2014/main" id="{8322C77A-E680-406B-A15C-BECB94D2EE81}"/>
              </a:ext>
            </a:extLst>
          </p:cNvPr>
          <p:cNvSpPr>
            <a:spLocks xmlns:a="http://schemas.openxmlformats.org/drawingml/2006/main" noGrp="1"/>
          </p:cNvSpPr>
          <p:nvPr/>
        </p:nvSpPr>
        <p:spPr>
          <a:xfrm xmlns:a="http://schemas.openxmlformats.org/drawingml/2006/main">
            <a:off x="552450" y="40005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5243B"/>
                </a:solidFill>
                <a:latin typeface="Arial"/>
                <a:ea typeface="Arial"/>
                <a:cs typeface="Arial"/>
              </a:defRPr>
            </a:defPPr>
          </a:lstStyle>
          <a:p xmlns:a="http://schemas.openxmlformats.org/drawingml/2006/main">
            <a:pPr>
              <a:defRPr sz="2850" b="1">
                <a:solidFill>
                  <a:srgbClr val="15243B"/>
                </a:solidFill>
                <a:latin typeface="Arial"/>
                <a:ea typeface="Arial"/>
                <a:cs typeface="Arial"/>
              </a:defRPr>
            </a:pPr>
            <a:r>
              <a:rPr sz="2850" b="1">
                <a:solidFill>
                  <a:srgbClr val="15243B"/>
                </a:solidFill>
                <a:latin typeface="Arial"/>
                <a:ea typeface="Arial"/>
                <a:cs typeface="Arial"/>
              </a:rPr>
              <a:t>The data reveal different seasonal patterns</a:t>
            </a:r>
          </a:p>
        </p:txBody>
      </p:sp>
      <p:sp>
        <p:nvSpPr>
          <p:cNvPr id="3" name="52,416 ten-minute observations from">
            <a:extLst xmlns:a="http://schemas.openxmlformats.org/drawingml/2006/main">
              <a:ext uri="{FF2B5EF4-FFF2-40B4-BE49-F238E27FC236}">
                <a16:creationId xmlns:a16="http://schemas.microsoft.com/office/drawing/2014/main" id="{A627CE05-8C7D-4A4E-BA5D-D3A0822BCB7D}"/>
              </a:ext>
            </a:extLst>
          </p:cNvPr>
          <p:cNvSpPr>
            <a:spLocks xmlns:a="http://schemas.openxmlformats.org/drawingml/2006/main" noGrp="1"/>
          </p:cNvSpPr>
          <p:nvPr/>
        </p:nvSpPr>
        <p:spPr>
          <a:xfrm xmlns:a="http://schemas.openxmlformats.org/drawingml/2006/main">
            <a:off x="571500" y="10668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579"/>
                </a:solidFill>
                <a:latin typeface="Arial"/>
                <a:ea typeface="Arial"/>
                <a:cs typeface="Arial"/>
              </a:defRPr>
            </a:defPPr>
          </a:lstStyle>
          <a:p xmlns:a="http://schemas.openxmlformats.org/drawingml/2006/main">
            <a:pPr>
              <a:defRPr sz="1575" b="0">
                <a:solidFill>
                  <a:srgbClr val="536579"/>
                </a:solidFill>
                <a:latin typeface="Arial"/>
                <a:ea typeface="Arial"/>
                <a:cs typeface="Arial"/>
              </a:defRPr>
            </a:pPr>
            <a:r>
              <a:rPr sz="1575" b="0">
                <a:solidFill>
                  <a:srgbClr val="536579"/>
                </a:solidFill>
                <a:latin typeface="Arial"/>
                <a:ea typeface="Arial"/>
                <a:cs typeface="Arial"/>
              </a:rPr>
              <a:t>52,416 ten-minute observations from 1 January to 30 December 2017</a:t>
            </a:r>
          </a:p>
        </p:txBody>
      </p:sp>
      <p:sp>
        <p:nvSpPr>
          <p:cNvPr id="4" name="">
            <a:extLst xmlns:a="http://schemas.openxmlformats.org/drawingml/2006/main">
              <a:ext uri="{FF2B5EF4-FFF2-40B4-BE49-F238E27FC236}">
                <a16:creationId xmlns:a16="http://schemas.microsoft.com/office/drawing/2014/main" id="{B20E05D1-7601-4696-94EC-F9C5FD4D98C6}"/>
              </a:ext>
            </a:extLst>
          </p:cNvPr>
          <p:cNvSpPr>
            <a:spLocks xmlns:a="http://schemas.openxmlformats.org/drawingml/2006/main" noGrp="1"/>
          </p:cNvSpPr>
          <p:nvPr/>
        </p:nvSpPr>
        <p:spPr>
          <a:xfrm xmlns:a="http://schemas.openxmlformats.org/drawingml/2006/main">
            <a:off x="571500" y="6324600"/>
            <a:ext cx="11049000" cy="9525"/>
          </a:xfrm>
          <a:prstGeom xmlns:a="http://schemas.openxmlformats.org/drawingml/2006/main" prst="rect">
            <a:avLst/>
          </a:prstGeom>
          <a:solidFill xmlns:a="http://schemas.openxmlformats.org/drawingml/2006/main">
            <a:srgbClr val="DBE4EE"/>
          </a:solidFill>
          <a:ln xmlns:a="http://schemas.openxmlformats.org/drawingml/2006/main" w="0">
            <a:noFill/>
          </a:ln>
        </p:spPr>
      </p:sp>
      <p:sp>
        <p:nvSpPr>
          <p:cNvPr id="5" name="Tetouan GridWatch  /  Week 10 progr">
            <a:extLst xmlns:a="http://schemas.openxmlformats.org/drawingml/2006/main">
              <a:ext uri="{FF2B5EF4-FFF2-40B4-BE49-F238E27FC236}">
                <a16:creationId xmlns:a16="http://schemas.microsoft.com/office/drawing/2014/main" id="{44CAC8E3-55B2-4107-A130-65B35C475EBE}"/>
              </a:ext>
            </a:extLst>
          </p:cNvPr>
          <p:cNvSpPr>
            <a:spLocks xmlns:a="http://schemas.openxmlformats.org/drawingml/2006/main" noGrp="1"/>
          </p:cNvSpPr>
          <p:nvPr/>
        </p:nvSpPr>
        <p:spPr>
          <a:xfrm xmlns:a="http://schemas.openxmlformats.org/drawingml/2006/main">
            <a:off x="571500" y="647700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6579"/>
                </a:solidFill>
                <a:latin typeface="Arial"/>
                <a:ea typeface="Arial"/>
                <a:cs typeface="Arial"/>
              </a:defRPr>
            </a:defPPr>
          </a:lstStyle>
          <a:p xmlns:a="http://schemas.openxmlformats.org/drawingml/2006/main">
            <a:pPr>
              <a:defRPr sz="1125" b="0">
                <a:solidFill>
                  <a:srgbClr val="536579"/>
                </a:solidFill>
                <a:latin typeface="Arial"/>
                <a:ea typeface="Arial"/>
                <a:cs typeface="Arial"/>
              </a:defRPr>
            </a:pPr>
            <a:r>
              <a:rPr sz="1125" b="0">
                <a:solidFill>
                  <a:srgbClr val="536579"/>
                </a:solidFill>
                <a:latin typeface="Arial"/>
                <a:ea typeface="Arial"/>
                <a:cs typeface="Arial"/>
              </a:rPr>
              <a:t>Tetouan GridWatch  /  Week 10 progress  /  8 October 2026</a:t>
            </a:r>
          </a:p>
        </p:txBody>
      </p:sp>
      <p:sp>
        <p:nvSpPr>
          <p:cNvPr id="6" name="02">
            <a:extLst xmlns:a="http://schemas.openxmlformats.org/drawingml/2006/main">
              <a:ext uri="{FF2B5EF4-FFF2-40B4-BE49-F238E27FC236}">
                <a16:creationId xmlns:a16="http://schemas.microsoft.com/office/drawing/2014/main" id="{5A45B1DF-4EB8-4AAF-9630-01376578D433}"/>
              </a:ext>
            </a:extLst>
          </p:cNvPr>
          <p:cNvSpPr>
            <a:spLocks xmlns:a="http://schemas.openxmlformats.org/drawingml/2006/main" noGrp="1"/>
          </p:cNvSpPr>
          <p:nvPr/>
        </p:nvSpPr>
        <p:spPr>
          <a:xfrm xmlns:a="http://schemas.openxmlformats.org/drawingml/2006/main">
            <a:off x="11144250" y="64770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6579"/>
                </a:solidFill>
                <a:latin typeface="Arial"/>
                <a:ea typeface="Arial"/>
                <a:cs typeface="Arial"/>
              </a:defRPr>
            </a:defPPr>
          </a:lstStyle>
          <a:p xmlns:a="http://schemas.openxmlformats.org/drawingml/2006/main">
            <a:pPr>
              <a:defRPr sz="1125" b="0">
                <a:solidFill>
                  <a:srgbClr val="536579"/>
                </a:solidFill>
                <a:latin typeface="Arial"/>
                <a:ea typeface="Arial"/>
                <a:cs typeface="Arial"/>
              </a:defRPr>
            </a:pPr>
            <a:r>
              <a:rPr sz="1125" b="0">
                <a:solidFill>
                  <a:srgbClr val="536579"/>
                </a:solidFill>
                <a:latin typeface="Arial"/>
                <a:ea typeface="Arial"/>
                <a:cs typeface="Arial"/>
              </a:rPr>
              <a:t>02</a:t>
            </a:r>
          </a:p>
        </p:txBody>
      </p:sp>
      <p:graphicFrame>
        <p:nvGraphicFramePr>
          <p:cNvPr id="7" name="Chart">
            <a:extLst xmlns:a="http://schemas.openxmlformats.org/drawingml/2006/main">
              <a:ext uri="{FF2B5EF4-FFF2-40B4-BE49-F238E27FC236}">
                <a16:creationId xmlns:a16="http://schemas.microsoft.com/office/drawing/2014/main" id="{6F4A6EF6-4852-4286-BE60-1C533864F299}"/>
              </a:ext>
            </a:extLst>
          </p:cNvPr>
          <p:cNvGraphicFramePr/>
          <p:nvPr/>
        </p:nvGraphicFramePr>
        <p:xfrm>
          <a:off xmlns:a="http://schemas.openxmlformats.org/drawingml/2006/main" x="571500" y="1905000"/>
          <a:ext xmlns:a="http://schemas.openxmlformats.org/drawingml/2006/main" cx="7524750" cy="3667125"/>
        </p:xfrm>
        <a:graphic xmlns:a="http://schemas.openxmlformats.org/drawingml/2006/main">
          <a:graphicData uri="http://schemas.openxmlformats.org/drawingml/2006/chart">
            <c:chart xmlns:r="http://schemas.openxmlformats.org/officeDocument/2006/relationships" xmlns:c="http://schemas.openxmlformats.org/drawingml/2006/chart" r:id="R15ab797c304b44c7"/>
          </a:graphicData>
        </a:graphic>
      </p:graphicFrame>
      <p:sp>
        <p:nvSpPr>
          <p:cNvPr id="8" name="Source audit">
            <a:extLst xmlns:a="http://schemas.openxmlformats.org/drawingml/2006/main">
              <a:ext uri="{FF2B5EF4-FFF2-40B4-BE49-F238E27FC236}">
                <a16:creationId xmlns:a16="http://schemas.microsoft.com/office/drawing/2014/main" id="{03F53F91-3CC0-477C-A046-57D7BBEECA97}"/>
              </a:ext>
            </a:extLst>
          </p:cNvPr>
          <p:cNvSpPr>
            <a:spLocks xmlns:a="http://schemas.openxmlformats.org/drawingml/2006/main" noGrp="1"/>
          </p:cNvSpPr>
          <p:nvPr/>
        </p:nvSpPr>
        <p:spPr>
          <a:xfrm xmlns:a="http://schemas.openxmlformats.org/drawingml/2006/main">
            <a:off x="8629650" y="200025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563EB"/>
                </a:solidFill>
                <a:latin typeface="Arial"/>
                <a:ea typeface="Arial"/>
                <a:cs typeface="Arial"/>
              </a:defRPr>
            </a:defPPr>
          </a:lstStyle>
          <a:p xmlns:a="http://schemas.openxmlformats.org/drawingml/2006/main">
            <a:pPr>
              <a:defRPr sz="2100" b="1">
                <a:solidFill>
                  <a:srgbClr val="2563EB"/>
                </a:solidFill>
                <a:latin typeface="Arial"/>
                <a:ea typeface="Arial"/>
                <a:cs typeface="Arial"/>
              </a:defRPr>
            </a:pPr>
            <a:r>
              <a:rPr sz="2100" b="1">
                <a:solidFill>
                  <a:srgbClr val="2563EB"/>
                </a:solidFill>
                <a:latin typeface="Arial"/>
                <a:ea typeface="Arial"/>
                <a:cs typeface="Arial"/>
              </a:rPr>
              <a:t>Source audit</a:t>
            </a:r>
          </a:p>
        </p:txBody>
      </p:sp>
      <p:sp>
        <p:nvSpPr>
          <p:cNvPr id="9" name="0 missing cells&#10;0 duplicate timesta">
            <a:extLst xmlns:a="http://schemas.openxmlformats.org/drawingml/2006/main">
              <a:ext uri="{FF2B5EF4-FFF2-40B4-BE49-F238E27FC236}">
                <a16:creationId xmlns:a16="http://schemas.microsoft.com/office/drawing/2014/main" id="{56269202-CB78-482B-B004-39851A0A0E57}"/>
              </a:ext>
            </a:extLst>
          </p:cNvPr>
          <p:cNvSpPr>
            <a:spLocks xmlns:a="http://schemas.openxmlformats.org/drawingml/2006/main" noGrp="1"/>
          </p:cNvSpPr>
          <p:nvPr/>
        </p:nvSpPr>
        <p:spPr>
          <a:xfrm xmlns:a="http://schemas.openxmlformats.org/drawingml/2006/main">
            <a:off x="8629650" y="2609850"/>
            <a:ext cx="28194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5243B"/>
                </a:solidFill>
                <a:latin typeface="Arial"/>
                <a:ea typeface="Arial"/>
                <a:cs typeface="Arial"/>
              </a:defRPr>
            </a:defPPr>
          </a:lstStyle>
          <a:p xmlns:a="http://schemas.openxmlformats.org/drawingml/2006/main">
            <a:pPr>
              <a:defRPr sz="1875" b="0">
                <a:solidFill>
                  <a:srgbClr val="15243B"/>
                </a:solidFill>
                <a:latin typeface="Arial"/>
                <a:ea typeface="Arial"/>
                <a:cs typeface="Arial"/>
              </a:defRPr>
            </a:pPr>
            <a:r>
              <a:rPr sz="1875" b="0">
                <a:solidFill>
                  <a:srgbClr val="15243B"/>
                </a:solidFill>
                <a:latin typeface="Arial"/>
                <a:ea typeface="Arial"/>
                <a:cs typeface="Arial"/>
              </a:rPr>
              <a:t>0 missing cells</a:t>
            </a:r>
          </a:p>
          <a:p xmlns:a="http://schemas.openxmlformats.org/drawingml/2006/main">
            <a:pPr>
              <a:defRPr sz="1875" b="0">
                <a:solidFill>
                  <a:srgbClr val="15243B"/>
                </a:solidFill>
                <a:latin typeface="Arial"/>
                <a:ea typeface="Arial"/>
                <a:cs typeface="Arial"/>
              </a:defRPr>
            </a:pPr>
            <a:r>
              <a:rPr sz="1875" b="0">
                <a:solidFill>
                  <a:srgbClr val="15243B"/>
                </a:solidFill>
                <a:latin typeface="Arial"/>
                <a:ea typeface="Arial"/>
                <a:cs typeface="Arial"/>
              </a:rPr>
              <a:t>0 duplicate timestamps</a:t>
            </a:r>
          </a:p>
          <a:p xmlns:a="http://schemas.openxmlformats.org/drawingml/2006/main">
            <a:pPr>
              <a:defRPr sz="1875" b="0">
                <a:solidFill>
                  <a:srgbClr val="15243B"/>
                </a:solidFill>
                <a:latin typeface="Arial"/>
                <a:ea typeface="Arial"/>
                <a:cs typeface="Arial"/>
              </a:defRPr>
            </a:pPr>
            <a:r>
              <a:rPr sz="1875" b="0">
                <a:solidFill>
                  <a:srgbClr val="15243B"/>
                </a:solidFill>
                <a:latin typeface="Arial"/>
                <a:ea typeface="Arial"/>
                <a:cs typeface="Arial"/>
              </a:rPr>
              <a:t>0 irregular intervals</a:t>
            </a:r>
          </a:p>
        </p:txBody>
      </p:sp>
      <p:sp>
        <p:nvSpPr>
          <p:cNvPr id="10" name="Units remain unconfirmed.&#10;The sourc">
            <a:extLst xmlns:a="http://schemas.openxmlformats.org/drawingml/2006/main">
              <a:ext uri="{FF2B5EF4-FFF2-40B4-BE49-F238E27FC236}">
                <a16:creationId xmlns:a16="http://schemas.microsoft.com/office/drawing/2014/main" id="{B994BF02-1683-4B80-9C53-ACA38A32C864}"/>
              </a:ext>
            </a:extLst>
          </p:cNvPr>
          <p:cNvSpPr>
            <a:spLocks xmlns:a="http://schemas.openxmlformats.org/drawingml/2006/main" noGrp="1"/>
          </p:cNvSpPr>
          <p:nvPr/>
        </p:nvSpPr>
        <p:spPr>
          <a:xfrm xmlns:a="http://schemas.openxmlformats.org/drawingml/2006/main">
            <a:off x="8629650" y="4438650"/>
            <a:ext cx="28003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536579"/>
                </a:solidFill>
                <a:latin typeface="Arial"/>
                <a:ea typeface="Arial"/>
                <a:cs typeface="Arial"/>
              </a:defRPr>
            </a:defPPr>
          </a:lstStyle>
          <a:p xmlns:a="http://schemas.openxmlformats.org/drawingml/2006/main">
            <a:pPr>
              <a:defRPr sz="1725" b="0">
                <a:solidFill>
                  <a:srgbClr val="536579"/>
                </a:solidFill>
                <a:latin typeface="Arial"/>
                <a:ea typeface="Arial"/>
                <a:cs typeface="Arial"/>
              </a:defRPr>
            </a:pPr>
            <a:r>
              <a:rPr sz="1725" b="0">
                <a:solidFill>
                  <a:srgbClr val="536579"/>
                </a:solidFill>
                <a:latin typeface="Arial"/>
                <a:ea typeface="Arial"/>
                <a:cs typeface="Arial"/>
              </a:rPr>
              <a:t>Units remain unconfirmed.</a:t>
            </a:r>
          </a:p>
          <a:p xmlns:a="http://schemas.openxmlformats.org/drawingml/2006/main">
            <a:pPr>
              <a:defRPr sz="1725" b="0">
                <a:solidFill>
                  <a:srgbClr val="536579"/>
                </a:solidFill>
                <a:latin typeface="Arial"/>
                <a:ea typeface="Arial"/>
                <a:cs typeface="Arial"/>
              </a:defRPr>
            </a:pPr>
            <a:r>
              <a:rPr sz="1725" b="0">
                <a:solidFill>
                  <a:srgbClr val="536579"/>
                </a:solidFill>
                <a:latin typeface="Arial"/>
                <a:ea typeface="Arial"/>
                <a:cs typeface="Arial"/>
              </a:rPr>
              <a:t>The source provides no</a:t>
            </a:r>
          </a:p>
          <a:p xmlns:a="http://schemas.openxmlformats.org/drawingml/2006/main">
            <a:pPr>
              <a:defRPr sz="1725" b="0">
                <a:solidFill>
                  <a:srgbClr val="536579"/>
                </a:solidFill>
                <a:latin typeface="Arial"/>
                <a:ea typeface="Arial"/>
                <a:cs typeface="Arial"/>
              </a:defRPr>
            </a:pPr>
            <a:r>
              <a:rPr sz="1725" b="0">
                <a:solidFill>
                  <a:srgbClr val="536579"/>
                </a:solidFill>
                <a:latin typeface="Arial"/>
                <a:ea typeface="Arial"/>
                <a:cs typeface="Arial"/>
              </a:rPr>
              <a:t>outage or capacity labels.</a:t>
            </a:r>
          </a:p>
        </p:txBody>
      </p:sp>
      <p:sp>
        <p:nvSpPr>
          <p:cNvPr id="11" name="Zone 3 declines after summer. A fix">
            <a:extLst xmlns:a="http://schemas.openxmlformats.org/drawingml/2006/main">
              <a:ext uri="{FF2B5EF4-FFF2-40B4-BE49-F238E27FC236}">
                <a16:creationId xmlns:a16="http://schemas.microsoft.com/office/drawing/2014/main" id="{5A6C4BDC-8371-49F5-A1D7-C62141DC3EE0}"/>
              </a:ext>
            </a:extLst>
          </p:cNvPr>
          <p:cNvSpPr>
            <a:spLocks xmlns:a="http://schemas.openxmlformats.org/drawingml/2006/main" noGrp="1"/>
          </p:cNvSpPr>
          <p:nvPr/>
        </p:nvSpPr>
        <p:spPr>
          <a:xfrm xmlns:a="http://schemas.openxmlformats.org/drawingml/2006/main">
            <a:off x="571500" y="5800725"/>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B45309"/>
                </a:solidFill>
                <a:latin typeface="Arial"/>
                <a:ea typeface="Arial"/>
                <a:cs typeface="Arial"/>
              </a:defRPr>
            </a:defPPr>
          </a:lstStyle>
          <a:p xmlns:a="http://schemas.openxmlformats.org/drawingml/2006/main">
            <a:pPr>
              <a:defRPr sz="1725" b="0">
                <a:solidFill>
                  <a:srgbClr val="B45309"/>
                </a:solidFill>
                <a:latin typeface="Arial"/>
                <a:ea typeface="Arial"/>
                <a:cs typeface="Arial"/>
              </a:defRPr>
            </a:pPr>
            <a:r>
              <a:rPr sz="1725" b="0">
                <a:solidFill>
                  <a:srgbClr val="B45309"/>
                </a:solidFill>
                <a:latin typeface="Arial"/>
                <a:ea typeface="Arial"/>
                <a:cs typeface="Arial"/>
              </a:rPr>
              <a:t>Zone 3 declines after summer. A fixed threshold may have no later positive events.</a:t>
            </a:r>
          </a:p>
        </p:txBody>
      </p:sp>
    </p:spTree>
    <p:extLst>
      <p:ext uri="{BB962C8B-B14F-4D97-AF65-F5344CB8AC3E}">
        <p14:creationId xmlns:p14="http://schemas.microsoft.com/office/powerpoint/2010/main" val="11725493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9064E00-8A29-4FB2-8825-C008CB0C199A}"/>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563EB"/>
          </a:solidFill>
          <a:ln xmlns:a="http://schemas.openxmlformats.org/drawingml/2006/main" w="0">
            <a:noFill/>
          </a:ln>
        </p:spPr>
      </p:sp>
      <p:sp>
        <p:nvSpPr>
          <p:cNvPr id="2" name="Forecast inputs stop at the issue t">
            <a:extLst xmlns:a="http://schemas.openxmlformats.org/drawingml/2006/main">
              <a:ext uri="{FF2B5EF4-FFF2-40B4-BE49-F238E27FC236}">
                <a16:creationId xmlns:a16="http://schemas.microsoft.com/office/drawing/2014/main" id="{D139BDF5-7120-4DA2-B015-4D91B8E8EAE6}"/>
              </a:ext>
            </a:extLst>
          </p:cNvPr>
          <p:cNvSpPr>
            <a:spLocks xmlns:a="http://schemas.openxmlformats.org/drawingml/2006/main" noGrp="1"/>
          </p:cNvSpPr>
          <p:nvPr/>
        </p:nvSpPr>
        <p:spPr>
          <a:xfrm xmlns:a="http://schemas.openxmlformats.org/drawingml/2006/main">
            <a:off x="552450" y="40005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5243B"/>
                </a:solidFill>
                <a:latin typeface="Arial"/>
                <a:ea typeface="Arial"/>
                <a:cs typeface="Arial"/>
              </a:defRPr>
            </a:defPPr>
          </a:lstStyle>
          <a:p xmlns:a="http://schemas.openxmlformats.org/drawingml/2006/main">
            <a:pPr>
              <a:defRPr sz="2850" b="1">
                <a:solidFill>
                  <a:srgbClr val="15243B"/>
                </a:solidFill>
                <a:latin typeface="Arial"/>
                <a:ea typeface="Arial"/>
                <a:cs typeface="Arial"/>
              </a:defRPr>
            </a:pPr>
            <a:r>
              <a:rPr sz="2850" b="1">
                <a:solidFill>
                  <a:srgbClr val="15243B"/>
                </a:solidFill>
                <a:latin typeface="Arial"/>
                <a:ea typeface="Arial"/>
                <a:cs typeface="Arial"/>
              </a:rPr>
              <a:t>Forecast inputs stop at the issue time</a:t>
            </a:r>
          </a:p>
        </p:txBody>
      </p:sp>
      <p:sp>
        <p:nvSpPr>
          <p:cNvPr id="3" name="48 features from available weather,">
            <a:extLst xmlns:a="http://schemas.openxmlformats.org/drawingml/2006/main">
              <a:ext uri="{FF2B5EF4-FFF2-40B4-BE49-F238E27FC236}">
                <a16:creationId xmlns:a16="http://schemas.microsoft.com/office/drawing/2014/main" id="{64FAEADA-B27A-4356-B4F8-A77D3F881280}"/>
              </a:ext>
            </a:extLst>
          </p:cNvPr>
          <p:cNvSpPr>
            <a:spLocks xmlns:a="http://schemas.openxmlformats.org/drawingml/2006/main" noGrp="1"/>
          </p:cNvSpPr>
          <p:nvPr/>
        </p:nvSpPr>
        <p:spPr>
          <a:xfrm xmlns:a="http://schemas.openxmlformats.org/drawingml/2006/main">
            <a:off x="571500" y="10668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579"/>
                </a:solidFill>
                <a:latin typeface="Arial"/>
                <a:ea typeface="Arial"/>
                <a:cs typeface="Arial"/>
              </a:defRPr>
            </a:defPPr>
          </a:lstStyle>
          <a:p xmlns:a="http://schemas.openxmlformats.org/drawingml/2006/main">
            <a:pPr>
              <a:defRPr sz="1575" b="0">
                <a:solidFill>
                  <a:srgbClr val="536579"/>
                </a:solidFill>
                <a:latin typeface="Arial"/>
                <a:ea typeface="Arial"/>
                <a:cs typeface="Arial"/>
              </a:defRPr>
            </a:pPr>
            <a:r>
              <a:rPr sz="1575" b="0">
                <a:solidFill>
                  <a:srgbClr val="536579"/>
                </a:solidFill>
                <a:latin typeface="Arial"/>
                <a:ea typeface="Arial"/>
                <a:cs typeface="Arial"/>
              </a:rPr>
              <a:t>48 features from available weather, demand history and the known future calendar</a:t>
            </a:r>
          </a:p>
        </p:txBody>
      </p:sp>
      <p:sp>
        <p:nvSpPr>
          <p:cNvPr id="4" name="">
            <a:extLst xmlns:a="http://schemas.openxmlformats.org/drawingml/2006/main">
              <a:ext uri="{FF2B5EF4-FFF2-40B4-BE49-F238E27FC236}">
                <a16:creationId xmlns:a16="http://schemas.microsoft.com/office/drawing/2014/main" id="{BD87AEE4-A17D-48B4-B1FB-199FFBA8642F}"/>
              </a:ext>
            </a:extLst>
          </p:cNvPr>
          <p:cNvSpPr>
            <a:spLocks xmlns:a="http://schemas.openxmlformats.org/drawingml/2006/main" noGrp="1"/>
          </p:cNvSpPr>
          <p:nvPr/>
        </p:nvSpPr>
        <p:spPr>
          <a:xfrm xmlns:a="http://schemas.openxmlformats.org/drawingml/2006/main">
            <a:off x="571500" y="6324600"/>
            <a:ext cx="11049000" cy="9525"/>
          </a:xfrm>
          <a:prstGeom xmlns:a="http://schemas.openxmlformats.org/drawingml/2006/main" prst="rect">
            <a:avLst/>
          </a:prstGeom>
          <a:solidFill xmlns:a="http://schemas.openxmlformats.org/drawingml/2006/main">
            <a:srgbClr val="DBE4EE"/>
          </a:solidFill>
          <a:ln xmlns:a="http://schemas.openxmlformats.org/drawingml/2006/main" w="0">
            <a:noFill/>
          </a:ln>
        </p:spPr>
      </p:sp>
      <p:sp>
        <p:nvSpPr>
          <p:cNvPr id="5" name="Tetouan GridWatch  /  Week 10 progr">
            <a:extLst xmlns:a="http://schemas.openxmlformats.org/drawingml/2006/main">
              <a:ext uri="{FF2B5EF4-FFF2-40B4-BE49-F238E27FC236}">
                <a16:creationId xmlns:a16="http://schemas.microsoft.com/office/drawing/2014/main" id="{9942D09D-F6FD-4B85-A8A3-79DE9E8FB3A4}"/>
              </a:ext>
            </a:extLst>
          </p:cNvPr>
          <p:cNvSpPr>
            <a:spLocks xmlns:a="http://schemas.openxmlformats.org/drawingml/2006/main" noGrp="1"/>
          </p:cNvSpPr>
          <p:nvPr/>
        </p:nvSpPr>
        <p:spPr>
          <a:xfrm xmlns:a="http://schemas.openxmlformats.org/drawingml/2006/main">
            <a:off x="571500" y="647700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6579"/>
                </a:solidFill>
                <a:latin typeface="Arial"/>
                <a:ea typeface="Arial"/>
                <a:cs typeface="Arial"/>
              </a:defRPr>
            </a:defPPr>
          </a:lstStyle>
          <a:p xmlns:a="http://schemas.openxmlformats.org/drawingml/2006/main">
            <a:pPr>
              <a:defRPr sz="1125" b="0">
                <a:solidFill>
                  <a:srgbClr val="536579"/>
                </a:solidFill>
                <a:latin typeface="Arial"/>
                <a:ea typeface="Arial"/>
                <a:cs typeface="Arial"/>
              </a:defRPr>
            </a:pPr>
            <a:r>
              <a:rPr sz="1125" b="0">
                <a:solidFill>
                  <a:srgbClr val="536579"/>
                </a:solidFill>
                <a:latin typeface="Arial"/>
                <a:ea typeface="Arial"/>
                <a:cs typeface="Arial"/>
              </a:rPr>
              <a:t>Tetouan GridWatch  /  Week 10 progress  /  8 October 2026</a:t>
            </a:r>
          </a:p>
        </p:txBody>
      </p:sp>
      <p:sp>
        <p:nvSpPr>
          <p:cNvPr id="6" name="03">
            <a:extLst xmlns:a="http://schemas.openxmlformats.org/drawingml/2006/main">
              <a:ext uri="{FF2B5EF4-FFF2-40B4-BE49-F238E27FC236}">
                <a16:creationId xmlns:a16="http://schemas.microsoft.com/office/drawing/2014/main" id="{E713FF0F-38F2-4739-B2A5-0B67A910B814}"/>
              </a:ext>
            </a:extLst>
          </p:cNvPr>
          <p:cNvSpPr>
            <a:spLocks xmlns:a="http://schemas.openxmlformats.org/drawingml/2006/main" noGrp="1"/>
          </p:cNvSpPr>
          <p:nvPr/>
        </p:nvSpPr>
        <p:spPr>
          <a:xfrm xmlns:a="http://schemas.openxmlformats.org/drawingml/2006/main">
            <a:off x="11144250" y="64770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6579"/>
                </a:solidFill>
                <a:latin typeface="Arial"/>
                <a:ea typeface="Arial"/>
                <a:cs typeface="Arial"/>
              </a:defRPr>
            </a:defPPr>
          </a:lstStyle>
          <a:p xmlns:a="http://schemas.openxmlformats.org/drawingml/2006/main">
            <a:pPr>
              <a:defRPr sz="1125" b="0">
                <a:solidFill>
                  <a:srgbClr val="536579"/>
                </a:solidFill>
                <a:latin typeface="Arial"/>
                <a:ea typeface="Arial"/>
                <a:cs typeface="Arial"/>
              </a:defRPr>
            </a:pPr>
            <a:r>
              <a:rPr sz="1125" b="0">
                <a:solidFill>
                  <a:srgbClr val="536579"/>
                </a:solidFill>
                <a:latin typeface="Arial"/>
                <a:ea typeface="Arial"/>
                <a:cs typeface="Arial"/>
              </a:rPr>
              <a:t>03</a:t>
            </a:r>
          </a:p>
        </p:txBody>
      </p:sp>
      <p:sp>
        <p:nvSpPr>
          <p:cNvPr id="7" name="">
            <a:extLst xmlns:a="http://schemas.openxmlformats.org/drawingml/2006/main">
              <a:ext uri="{FF2B5EF4-FFF2-40B4-BE49-F238E27FC236}">
                <a16:creationId xmlns:a16="http://schemas.microsoft.com/office/drawing/2014/main" id="{D5A25865-7EF1-4D9B-90CF-4FA5B20223DA}"/>
              </a:ext>
            </a:extLst>
          </p:cNvPr>
          <p:cNvSpPr>
            <a:spLocks xmlns:a="http://schemas.openxmlformats.org/drawingml/2006/main" noGrp="1"/>
          </p:cNvSpPr>
          <p:nvPr/>
        </p:nvSpPr>
        <p:spPr>
          <a:xfrm xmlns:a="http://schemas.openxmlformats.org/drawingml/2006/main">
            <a:off x="571500" y="1981200"/>
            <a:ext cx="6381750" cy="1190625"/>
          </a:xfrm>
          <a:prstGeom xmlns:a="http://schemas.openxmlformats.org/drawingml/2006/main" prst="rect">
            <a:avLst/>
          </a:prstGeom>
          <a:solidFill xmlns:a="http://schemas.openxmlformats.org/drawingml/2006/main">
            <a:srgbClr val="2563EB"/>
          </a:solidFill>
          <a:ln xmlns:a="http://schemas.openxmlformats.org/drawingml/2006/main" w="0">
            <a:noFill/>
          </a:ln>
        </p:spPr>
      </p:sp>
      <p:sp>
        <p:nvSpPr>
          <p:cNvPr id="8" name="TRAIN">
            <a:extLst xmlns:a="http://schemas.openxmlformats.org/drawingml/2006/main">
              <a:ext uri="{FF2B5EF4-FFF2-40B4-BE49-F238E27FC236}">
                <a16:creationId xmlns:a16="http://schemas.microsoft.com/office/drawing/2014/main" id="{AF479E4E-DAF5-4C42-A8FC-7CDB781A5AFB}"/>
              </a:ext>
            </a:extLst>
          </p:cNvPr>
          <p:cNvSpPr>
            <a:spLocks xmlns:a="http://schemas.openxmlformats.org/drawingml/2006/main" noGrp="1"/>
          </p:cNvSpPr>
          <p:nvPr/>
        </p:nvSpPr>
        <p:spPr>
          <a:xfrm xmlns:a="http://schemas.openxmlformats.org/drawingml/2006/main">
            <a:off x="742950" y="2171700"/>
            <a:ext cx="609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TRAIN</a:t>
            </a:r>
          </a:p>
        </p:txBody>
      </p:sp>
      <p:sp>
        <p:nvSpPr>
          <p:cNvPr id="9" name="35,680 valid samples">
            <a:extLst xmlns:a="http://schemas.openxmlformats.org/drawingml/2006/main">
              <a:ext uri="{FF2B5EF4-FFF2-40B4-BE49-F238E27FC236}">
                <a16:creationId xmlns:a16="http://schemas.microsoft.com/office/drawing/2014/main" id="{B2757C06-2091-444B-A744-651FF9FA1D2F}"/>
              </a:ext>
            </a:extLst>
          </p:cNvPr>
          <p:cNvSpPr>
            <a:spLocks xmlns:a="http://schemas.openxmlformats.org/drawingml/2006/main" noGrp="1"/>
          </p:cNvSpPr>
          <p:nvPr/>
        </p:nvSpPr>
        <p:spPr>
          <a:xfrm xmlns:a="http://schemas.openxmlformats.org/drawingml/2006/main">
            <a:off x="742950" y="2581275"/>
            <a:ext cx="6096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FFFFFF"/>
                </a:solidFill>
                <a:latin typeface="Arial"/>
                <a:ea typeface="Arial"/>
                <a:cs typeface="Arial"/>
              </a:defRPr>
            </a:def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35,680 valid samples</a:t>
            </a:r>
          </a:p>
        </p:txBody>
      </p:sp>
      <p:sp>
        <p:nvSpPr>
          <p:cNvPr id="10" name="Fit models and scalers">
            <a:extLst xmlns:a="http://schemas.openxmlformats.org/drawingml/2006/main">
              <a:ext uri="{FF2B5EF4-FFF2-40B4-BE49-F238E27FC236}">
                <a16:creationId xmlns:a16="http://schemas.microsoft.com/office/drawing/2014/main" id="{0DA8D0DE-66BC-4C39-9D62-ABC93DD47C58}"/>
              </a:ext>
            </a:extLst>
          </p:cNvPr>
          <p:cNvSpPr>
            <a:spLocks xmlns:a="http://schemas.openxmlformats.org/drawingml/2006/main" noGrp="1"/>
          </p:cNvSpPr>
          <p:nvPr/>
        </p:nvSpPr>
        <p:spPr>
          <a:xfrm xmlns:a="http://schemas.openxmlformats.org/drawingml/2006/main">
            <a:off x="571500" y="3390900"/>
            <a:ext cx="638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243B"/>
                </a:solidFill>
                <a:latin typeface="Arial"/>
                <a:ea typeface="Arial"/>
                <a:cs typeface="Arial"/>
              </a:defRPr>
            </a:defPPr>
          </a:lstStyle>
          <a:p xmlns:a="http://schemas.openxmlformats.org/drawingml/2006/main">
            <a:pPr>
              <a:defRPr sz="1725" b="0">
                <a:solidFill>
                  <a:srgbClr val="15243B"/>
                </a:solidFill>
                <a:latin typeface="Arial"/>
                <a:ea typeface="Arial"/>
                <a:cs typeface="Arial"/>
              </a:defRPr>
            </a:pPr>
            <a:r>
              <a:rPr sz="1725" b="0">
                <a:solidFill>
                  <a:srgbClr val="15243B"/>
                </a:solidFill>
                <a:latin typeface="Arial"/>
                <a:ea typeface="Arial"/>
                <a:cs typeface="Arial"/>
              </a:rPr>
              <a:t>Fit models and scalers</a:t>
            </a:r>
          </a:p>
        </p:txBody>
      </p:sp>
      <p:sp>
        <p:nvSpPr>
          <p:cNvPr id="11" name="">
            <a:extLst xmlns:a="http://schemas.openxmlformats.org/drawingml/2006/main">
              <a:ext uri="{FF2B5EF4-FFF2-40B4-BE49-F238E27FC236}">
                <a16:creationId xmlns:a16="http://schemas.microsoft.com/office/drawing/2014/main" id="{4D734855-FA18-4F49-B2A3-0CFC72EB2998}"/>
              </a:ext>
            </a:extLst>
          </p:cNvPr>
          <p:cNvSpPr>
            <a:spLocks xmlns:a="http://schemas.openxmlformats.org/drawingml/2006/main" noGrp="1"/>
          </p:cNvSpPr>
          <p:nvPr/>
        </p:nvSpPr>
        <p:spPr>
          <a:xfrm xmlns:a="http://schemas.openxmlformats.org/drawingml/2006/main">
            <a:off x="7029450" y="1981200"/>
            <a:ext cx="2209800" cy="1190625"/>
          </a:xfrm>
          <a:prstGeom xmlns:a="http://schemas.openxmlformats.org/drawingml/2006/main" prst="rect">
            <a:avLst/>
          </a:prstGeom>
          <a:solidFill xmlns:a="http://schemas.openxmlformats.org/drawingml/2006/main">
            <a:srgbClr val="059669"/>
          </a:solidFill>
          <a:ln xmlns:a="http://schemas.openxmlformats.org/drawingml/2006/main" w="0">
            <a:noFill/>
          </a:ln>
        </p:spPr>
      </p:sp>
      <p:sp>
        <p:nvSpPr>
          <p:cNvPr id="12" name="VALIDATION">
            <a:extLst xmlns:a="http://schemas.openxmlformats.org/drawingml/2006/main">
              <a:ext uri="{FF2B5EF4-FFF2-40B4-BE49-F238E27FC236}">
                <a16:creationId xmlns:a16="http://schemas.microsoft.com/office/drawing/2014/main" id="{61266B41-F66B-4FD0-A668-24C4F07EC60A}"/>
              </a:ext>
            </a:extLst>
          </p:cNvPr>
          <p:cNvSpPr>
            <a:spLocks xmlns:a="http://schemas.openxmlformats.org/drawingml/2006/main" noGrp="1"/>
          </p:cNvSpPr>
          <p:nvPr/>
        </p:nvSpPr>
        <p:spPr>
          <a:xfrm xmlns:a="http://schemas.openxmlformats.org/drawingml/2006/main">
            <a:off x="7200900" y="2171700"/>
            <a:ext cx="1924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VALIDATION</a:t>
            </a:r>
          </a:p>
        </p:txBody>
      </p:sp>
      <p:sp>
        <p:nvSpPr>
          <p:cNvPr id="13" name="7,859 samples">
            <a:extLst xmlns:a="http://schemas.openxmlformats.org/drawingml/2006/main">
              <a:ext uri="{FF2B5EF4-FFF2-40B4-BE49-F238E27FC236}">
                <a16:creationId xmlns:a16="http://schemas.microsoft.com/office/drawing/2014/main" id="{E3CB9FFF-E1DD-45B8-8B46-3BD497963501}"/>
              </a:ext>
            </a:extLst>
          </p:cNvPr>
          <p:cNvSpPr>
            <a:spLocks xmlns:a="http://schemas.openxmlformats.org/drawingml/2006/main" noGrp="1"/>
          </p:cNvSpPr>
          <p:nvPr/>
        </p:nvSpPr>
        <p:spPr>
          <a:xfrm xmlns:a="http://schemas.openxmlformats.org/drawingml/2006/main">
            <a:off x="7200900" y="2581275"/>
            <a:ext cx="19240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FFFFFF"/>
                </a:solidFill>
                <a:latin typeface="Arial"/>
                <a:ea typeface="Arial"/>
                <a:cs typeface="Arial"/>
              </a:defRPr>
            </a:def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7,859 samples</a:t>
            </a:r>
          </a:p>
        </p:txBody>
      </p:sp>
      <p:sp>
        <p:nvSpPr>
          <p:cNvPr id="14" name="Choose models">
            <a:extLst xmlns:a="http://schemas.openxmlformats.org/drawingml/2006/main">
              <a:ext uri="{FF2B5EF4-FFF2-40B4-BE49-F238E27FC236}">
                <a16:creationId xmlns:a16="http://schemas.microsoft.com/office/drawing/2014/main" id="{EA96A858-9779-4770-B13B-A8E9469240DE}"/>
              </a:ext>
            </a:extLst>
          </p:cNvPr>
          <p:cNvSpPr>
            <a:spLocks xmlns:a="http://schemas.openxmlformats.org/drawingml/2006/main" noGrp="1"/>
          </p:cNvSpPr>
          <p:nvPr/>
        </p:nvSpPr>
        <p:spPr>
          <a:xfrm xmlns:a="http://schemas.openxmlformats.org/drawingml/2006/main">
            <a:off x="7029450" y="3390900"/>
            <a:ext cx="2209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243B"/>
                </a:solidFill>
                <a:latin typeface="Arial"/>
                <a:ea typeface="Arial"/>
                <a:cs typeface="Arial"/>
              </a:defRPr>
            </a:defPPr>
          </a:lstStyle>
          <a:p xmlns:a="http://schemas.openxmlformats.org/drawingml/2006/main">
            <a:pPr>
              <a:defRPr sz="1725" b="0">
                <a:solidFill>
                  <a:srgbClr val="15243B"/>
                </a:solidFill>
                <a:latin typeface="Arial"/>
                <a:ea typeface="Arial"/>
                <a:cs typeface="Arial"/>
              </a:defRPr>
            </a:pPr>
            <a:r>
              <a:rPr sz="1725" b="0">
                <a:solidFill>
                  <a:srgbClr val="15243B"/>
                </a:solidFill>
                <a:latin typeface="Arial"/>
                <a:ea typeface="Arial"/>
                <a:cs typeface="Arial"/>
              </a:rPr>
              <a:t>Choose models</a:t>
            </a:r>
          </a:p>
        </p:txBody>
      </p:sp>
      <p:sp>
        <p:nvSpPr>
          <p:cNvPr id="15" name="">
            <a:extLst xmlns:a="http://schemas.openxmlformats.org/drawingml/2006/main">
              <a:ext uri="{FF2B5EF4-FFF2-40B4-BE49-F238E27FC236}">
                <a16:creationId xmlns:a16="http://schemas.microsoft.com/office/drawing/2014/main" id="{432F3B1F-214F-4E44-9EEF-068522CD5D33}"/>
              </a:ext>
            </a:extLst>
          </p:cNvPr>
          <p:cNvSpPr>
            <a:spLocks xmlns:a="http://schemas.openxmlformats.org/drawingml/2006/main" noGrp="1"/>
          </p:cNvSpPr>
          <p:nvPr/>
        </p:nvSpPr>
        <p:spPr>
          <a:xfrm xmlns:a="http://schemas.openxmlformats.org/drawingml/2006/main">
            <a:off x="9315450" y="1981200"/>
            <a:ext cx="2305050" cy="1190625"/>
          </a:xfrm>
          <a:prstGeom xmlns:a="http://schemas.openxmlformats.org/drawingml/2006/main" prst="rect">
            <a:avLst/>
          </a:prstGeom>
          <a:solidFill xmlns:a="http://schemas.openxmlformats.org/drawingml/2006/main">
            <a:srgbClr val="B45309"/>
          </a:solidFill>
          <a:ln xmlns:a="http://schemas.openxmlformats.org/drawingml/2006/main" w="0">
            <a:noFill/>
          </a:ln>
        </p:spPr>
      </p:sp>
      <p:sp>
        <p:nvSpPr>
          <p:cNvPr id="16" name="TEST">
            <a:extLst xmlns:a="http://schemas.openxmlformats.org/drawingml/2006/main">
              <a:ext uri="{FF2B5EF4-FFF2-40B4-BE49-F238E27FC236}">
                <a16:creationId xmlns:a16="http://schemas.microsoft.com/office/drawing/2014/main" id="{6605EA4E-3292-4EBA-A0A5-E31DB8650A8C}"/>
              </a:ext>
            </a:extLst>
          </p:cNvPr>
          <p:cNvSpPr>
            <a:spLocks xmlns:a="http://schemas.openxmlformats.org/drawingml/2006/main" noGrp="1"/>
          </p:cNvSpPr>
          <p:nvPr/>
        </p:nvSpPr>
        <p:spPr>
          <a:xfrm xmlns:a="http://schemas.openxmlformats.org/drawingml/2006/main">
            <a:off x="9486900" y="2171700"/>
            <a:ext cx="2019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FFFFFF"/>
                </a:solidFill>
                <a:latin typeface="Arial"/>
                <a:ea typeface="Arial"/>
                <a:cs typeface="Arial"/>
              </a:defRPr>
            </a:defPPr>
          </a:lstStyle>
          <a:p xmlns:a="http://schemas.openxmlformats.org/drawingml/2006/main">
            <a:pPr>
              <a:defRPr sz="1650" b="1">
                <a:solidFill>
                  <a:srgbClr val="FFFFFF"/>
                </a:solidFill>
                <a:latin typeface="Arial"/>
                <a:ea typeface="Arial"/>
                <a:cs typeface="Arial"/>
              </a:defRPr>
            </a:pPr>
            <a:r>
              <a:rPr sz="1650" b="1">
                <a:solidFill>
                  <a:srgbClr val="FFFFFF"/>
                </a:solidFill>
                <a:latin typeface="Arial"/>
                <a:ea typeface="Arial"/>
                <a:cs typeface="Arial"/>
              </a:rPr>
              <a:t>TEST</a:t>
            </a:r>
          </a:p>
        </p:txBody>
      </p:sp>
      <p:sp>
        <p:nvSpPr>
          <p:cNvPr id="17" name="7,860 samples">
            <a:extLst xmlns:a="http://schemas.openxmlformats.org/drawingml/2006/main">
              <a:ext uri="{FF2B5EF4-FFF2-40B4-BE49-F238E27FC236}">
                <a16:creationId xmlns:a16="http://schemas.microsoft.com/office/drawing/2014/main" id="{CD99CC6D-A2F9-4B28-9C62-E7EED4683F09}"/>
              </a:ext>
            </a:extLst>
          </p:cNvPr>
          <p:cNvSpPr>
            <a:spLocks xmlns:a="http://schemas.openxmlformats.org/drawingml/2006/main" noGrp="1"/>
          </p:cNvSpPr>
          <p:nvPr/>
        </p:nvSpPr>
        <p:spPr>
          <a:xfrm xmlns:a="http://schemas.openxmlformats.org/drawingml/2006/main">
            <a:off x="9486900" y="2581275"/>
            <a:ext cx="2019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FFFFFF"/>
                </a:solidFill>
                <a:latin typeface="Arial"/>
                <a:ea typeface="Arial"/>
                <a:cs typeface="Arial"/>
              </a:defRPr>
            </a:defPPr>
          </a:lstStyle>
          <a:p xmlns:a="http://schemas.openxmlformats.org/drawingml/2006/main">
            <a:pPr>
              <a:defRPr sz="1725" b="0">
                <a:solidFill>
                  <a:srgbClr val="FFFFFF"/>
                </a:solidFill>
                <a:latin typeface="Arial"/>
                <a:ea typeface="Arial"/>
                <a:cs typeface="Arial"/>
              </a:defRPr>
            </a:pPr>
            <a:r>
              <a:rPr sz="1725" b="0">
                <a:solidFill>
                  <a:srgbClr val="FFFFFF"/>
                </a:solidFill>
                <a:latin typeface="Arial"/>
                <a:ea typeface="Arial"/>
                <a:cs typeface="Arial"/>
              </a:rPr>
              <a:t>7,860 samples</a:t>
            </a:r>
          </a:p>
        </p:txBody>
      </p:sp>
      <p:sp>
        <p:nvSpPr>
          <p:cNvPr id="18" name="Frozen evaluation">
            <a:extLst xmlns:a="http://schemas.openxmlformats.org/drawingml/2006/main">
              <a:ext uri="{FF2B5EF4-FFF2-40B4-BE49-F238E27FC236}">
                <a16:creationId xmlns:a16="http://schemas.microsoft.com/office/drawing/2014/main" id="{D52D0DC1-A0B6-4B13-A594-A2A96E0983D4}"/>
              </a:ext>
            </a:extLst>
          </p:cNvPr>
          <p:cNvSpPr>
            <a:spLocks xmlns:a="http://schemas.openxmlformats.org/drawingml/2006/main" noGrp="1"/>
          </p:cNvSpPr>
          <p:nvPr/>
        </p:nvSpPr>
        <p:spPr>
          <a:xfrm xmlns:a="http://schemas.openxmlformats.org/drawingml/2006/main">
            <a:off x="9315450" y="3390900"/>
            <a:ext cx="23050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725" b="0">
                <a:solidFill>
                  <a:srgbClr val="15243B"/>
                </a:solidFill>
                <a:latin typeface="Arial"/>
                <a:ea typeface="Arial"/>
                <a:cs typeface="Arial"/>
              </a:defRPr>
            </a:defPPr>
          </a:lstStyle>
          <a:p xmlns:a="http://schemas.openxmlformats.org/drawingml/2006/main">
            <a:pPr>
              <a:defRPr sz="1725" b="0">
                <a:solidFill>
                  <a:srgbClr val="15243B"/>
                </a:solidFill>
                <a:latin typeface="Arial"/>
                <a:ea typeface="Arial"/>
                <a:cs typeface="Arial"/>
              </a:defRPr>
            </a:pPr>
            <a:r>
              <a:rPr sz="1725" b="0">
                <a:solidFill>
                  <a:srgbClr val="15243B"/>
                </a:solidFill>
                <a:latin typeface="Arial"/>
                <a:ea typeface="Arial"/>
                <a:cs typeface="Arial"/>
              </a:rPr>
              <a:t>Frozen evaluation</a:t>
            </a:r>
          </a:p>
        </p:txBody>
      </p:sp>
      <p:sp>
        <p:nvSpPr>
          <p:cNvPr id="19" name="Validation starts&#10;12 Sep 2017, 19:1">
            <a:extLst xmlns:a="http://schemas.openxmlformats.org/drawingml/2006/main">
              <a:ext uri="{FF2B5EF4-FFF2-40B4-BE49-F238E27FC236}">
                <a16:creationId xmlns:a16="http://schemas.microsoft.com/office/drawing/2014/main" id="{65A817AA-827A-4D81-882C-9B7DC4F8B80F}"/>
              </a:ext>
            </a:extLst>
          </p:cNvPr>
          <p:cNvSpPr>
            <a:spLocks xmlns:a="http://schemas.openxmlformats.org/drawingml/2006/main" noGrp="1"/>
          </p:cNvSpPr>
          <p:nvPr/>
        </p:nvSpPr>
        <p:spPr>
          <a:xfrm xmlns:a="http://schemas.openxmlformats.org/drawingml/2006/main">
            <a:off x="7029450" y="3895725"/>
            <a:ext cx="22383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36579"/>
                </a:solidFill>
                <a:latin typeface="Arial"/>
                <a:ea typeface="Arial"/>
                <a:cs typeface="Arial"/>
              </a:defRPr>
            </a:defPPr>
          </a:lstStyle>
          <a:p xmlns:a="http://schemas.openxmlformats.org/drawingml/2006/main">
            <a:pPr>
              <a:defRPr sz="1500" b="0">
                <a:solidFill>
                  <a:srgbClr val="536579"/>
                </a:solidFill>
                <a:latin typeface="Arial"/>
                <a:ea typeface="Arial"/>
                <a:cs typeface="Arial"/>
              </a:defRPr>
            </a:pPr>
            <a:r>
              <a:rPr sz="1500" b="0">
                <a:solidFill>
                  <a:srgbClr val="536579"/>
                </a:solidFill>
                <a:latin typeface="Arial"/>
                <a:ea typeface="Arial"/>
                <a:cs typeface="Arial"/>
              </a:rPr>
              <a:t>Validation starts</a:t>
            </a:r>
          </a:p>
          <a:p xmlns:a="http://schemas.openxmlformats.org/drawingml/2006/main">
            <a:pPr>
              <a:defRPr sz="1500" b="0">
                <a:solidFill>
                  <a:srgbClr val="536579"/>
                </a:solidFill>
                <a:latin typeface="Arial"/>
                <a:ea typeface="Arial"/>
                <a:cs typeface="Arial"/>
              </a:defRPr>
            </a:pPr>
            <a:r>
              <a:rPr sz="1500" b="0">
                <a:solidFill>
                  <a:srgbClr val="536579"/>
                </a:solidFill>
                <a:latin typeface="Arial"/>
                <a:ea typeface="Arial"/>
                <a:cs typeface="Arial"/>
              </a:rPr>
              <a:t>12 Sep 2017, 19:10</a:t>
            </a:r>
          </a:p>
        </p:txBody>
      </p:sp>
      <p:sp>
        <p:nvSpPr>
          <p:cNvPr id="20" name="Test starts&#10;6 Nov 2017, 09:30">
            <a:extLst xmlns:a="http://schemas.openxmlformats.org/drawingml/2006/main">
              <a:ext uri="{FF2B5EF4-FFF2-40B4-BE49-F238E27FC236}">
                <a16:creationId xmlns:a16="http://schemas.microsoft.com/office/drawing/2014/main" id="{7311D0AA-5B0C-46D5-AB0B-547CFD39243B}"/>
              </a:ext>
            </a:extLst>
          </p:cNvPr>
          <p:cNvSpPr>
            <a:spLocks xmlns:a="http://schemas.openxmlformats.org/drawingml/2006/main" noGrp="1"/>
          </p:cNvSpPr>
          <p:nvPr/>
        </p:nvSpPr>
        <p:spPr>
          <a:xfrm xmlns:a="http://schemas.openxmlformats.org/drawingml/2006/main">
            <a:off x="9315450" y="3895725"/>
            <a:ext cx="2305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536579"/>
                </a:solidFill>
                <a:latin typeface="Arial"/>
                <a:ea typeface="Arial"/>
                <a:cs typeface="Arial"/>
              </a:defRPr>
            </a:defPPr>
          </a:lstStyle>
          <a:p xmlns:a="http://schemas.openxmlformats.org/drawingml/2006/main">
            <a:pPr>
              <a:defRPr sz="1500" b="0">
                <a:solidFill>
                  <a:srgbClr val="536579"/>
                </a:solidFill>
                <a:latin typeface="Arial"/>
                <a:ea typeface="Arial"/>
                <a:cs typeface="Arial"/>
              </a:defRPr>
            </a:pPr>
            <a:r>
              <a:rPr sz="1500" b="0">
                <a:solidFill>
                  <a:srgbClr val="536579"/>
                </a:solidFill>
                <a:latin typeface="Arial"/>
                <a:ea typeface="Arial"/>
                <a:cs typeface="Arial"/>
              </a:rPr>
              <a:t>Test starts</a:t>
            </a:r>
          </a:p>
          <a:p xmlns:a="http://schemas.openxmlformats.org/drawingml/2006/main">
            <a:pPr>
              <a:defRPr sz="1500" b="0">
                <a:solidFill>
                  <a:srgbClr val="536579"/>
                </a:solidFill>
                <a:latin typeface="Arial"/>
                <a:ea typeface="Arial"/>
                <a:cs typeface="Arial"/>
              </a:defRPr>
            </a:pPr>
            <a:r>
              <a:rPr sz="1500" b="0">
                <a:solidFill>
                  <a:srgbClr val="536579"/>
                </a:solidFill>
                <a:latin typeface="Arial"/>
                <a:ea typeface="Arial"/>
                <a:cs typeface="Arial"/>
              </a:rPr>
              <a:t>6 Nov 2017, 09:30</a:t>
            </a:r>
          </a:p>
        </p:txBody>
      </p:sp>
      <p:sp>
        <p:nvSpPr>
          <p:cNvPr id="21" name="Labels cannot cross the next split ">
            <a:extLst xmlns:a="http://schemas.openxmlformats.org/drawingml/2006/main">
              <a:ext uri="{FF2B5EF4-FFF2-40B4-BE49-F238E27FC236}">
                <a16:creationId xmlns:a16="http://schemas.microsoft.com/office/drawing/2014/main" id="{505D8D04-507D-4C27-BCB0-7DDE52AC385F}"/>
              </a:ext>
            </a:extLst>
          </p:cNvPr>
          <p:cNvSpPr>
            <a:spLocks xmlns:a="http://schemas.openxmlformats.org/drawingml/2006/main" noGrp="1"/>
          </p:cNvSpPr>
          <p:nvPr/>
        </p:nvSpPr>
        <p:spPr>
          <a:xfrm xmlns:a="http://schemas.openxmlformats.org/drawingml/2006/main">
            <a:off x="571500" y="4124325"/>
            <a:ext cx="6191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15243B"/>
                </a:solidFill>
                <a:latin typeface="Arial"/>
                <a:ea typeface="Arial"/>
                <a:cs typeface="Arial"/>
              </a:defRPr>
            </a:defPPr>
          </a:lstStyle>
          <a:p xmlns:a="http://schemas.openxmlformats.org/drawingml/2006/main">
            <a:pPr>
              <a:defRPr sz="2100" b="1">
                <a:solidFill>
                  <a:srgbClr val="15243B"/>
                </a:solidFill>
                <a:latin typeface="Arial"/>
                <a:ea typeface="Arial"/>
                <a:cs typeface="Arial"/>
              </a:defRPr>
            </a:pPr>
            <a:r>
              <a:rPr sz="2100" b="1">
                <a:solidFill>
                  <a:srgbClr val="15243B"/>
                </a:solidFill>
                <a:latin typeface="Arial"/>
                <a:ea typeface="Arial"/>
                <a:cs typeface="Arial"/>
              </a:rPr>
              <a:t>Labels cannot cross the next split boundary.</a:t>
            </a:r>
          </a:p>
          <a:p xmlns:a="http://schemas.openxmlformats.org/drawingml/2006/main">
            <a:pPr>
              <a:defRPr sz="2100" b="1">
                <a:solidFill>
                  <a:srgbClr val="15243B"/>
                </a:solidFill>
                <a:latin typeface="Arial"/>
                <a:ea typeface="Arial"/>
                <a:cs typeface="Arial"/>
              </a:defRPr>
            </a:pPr>
            <a:r>
              <a:rPr sz="2100" b="1">
                <a:solidFill>
                  <a:srgbClr val="15243B"/>
                </a:solidFill>
                <a:latin typeface="Arial"/>
                <a:ea typeface="Arial"/>
                <a:cs typeface="Arial"/>
              </a:rPr>
              <a:t>Future observed weather never enters the inputs.</a:t>
            </a:r>
          </a:p>
        </p:txBody>
      </p:sp>
      <p:sp>
        <p:nvSpPr>
          <p:cNvPr id="22" name="Four automated checks passed. The s">
            <a:extLst xmlns:a="http://schemas.openxmlformats.org/drawingml/2006/main">
              <a:ext uri="{FF2B5EF4-FFF2-40B4-BE49-F238E27FC236}">
                <a16:creationId xmlns:a16="http://schemas.microsoft.com/office/drawing/2014/main" id="{17F4F872-0670-44F2-A69C-447846A98E00}"/>
              </a:ext>
            </a:extLst>
          </p:cNvPr>
          <p:cNvSpPr>
            <a:spLocks xmlns:a="http://schemas.openxmlformats.org/drawingml/2006/main" noGrp="1"/>
          </p:cNvSpPr>
          <p:nvPr/>
        </p:nvSpPr>
        <p:spPr>
          <a:xfrm xmlns:a="http://schemas.openxmlformats.org/drawingml/2006/main">
            <a:off x="571500" y="5610225"/>
            <a:ext cx="1095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36579"/>
                </a:solidFill>
                <a:latin typeface="Arial"/>
                <a:ea typeface="Arial"/>
                <a:cs typeface="Arial"/>
              </a:defRPr>
            </a:defPPr>
          </a:lstStyle>
          <a:p xmlns:a="http://schemas.openxmlformats.org/drawingml/2006/main">
            <a:pPr>
              <a:defRPr sz="1800" b="0">
                <a:solidFill>
                  <a:srgbClr val="536579"/>
                </a:solidFill>
                <a:latin typeface="Arial"/>
                <a:ea typeface="Arial"/>
                <a:cs typeface="Arial"/>
              </a:defRPr>
            </a:pPr>
            <a:r>
              <a:rPr sz="1800" b="0">
                <a:solidFill>
                  <a:srgbClr val="536579"/>
                </a:solidFill>
                <a:latin typeface="Arial"/>
                <a:ea typeface="Arial"/>
                <a:cs typeface="Arial"/>
              </a:rPr>
              <a:t>Four automated checks passed. The shared split still needs agreement with peer groups.</a:t>
            </a:r>
          </a:p>
        </p:txBody>
      </p:sp>
    </p:spTree>
    <p:extLst>
      <p:ext uri="{BB962C8B-B14F-4D97-AF65-F5344CB8AC3E}">
        <p14:creationId xmlns:p14="http://schemas.microsoft.com/office/powerpoint/2010/main" val="21402685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8AF1B24-E6A3-4EAE-AABE-76C65039A437}"/>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563EB"/>
          </a:solidFill>
          <a:ln xmlns:a="http://schemas.openxmlformats.org/drawingml/2006/main" w="0">
            <a:noFill/>
          </a:ln>
        </p:spPr>
      </p:sp>
      <p:sp>
        <p:nvSpPr>
          <p:cNvPr id="2" name="Linear regression wins the initial ">
            <a:extLst xmlns:a="http://schemas.openxmlformats.org/drawingml/2006/main">
              <a:ext uri="{FF2B5EF4-FFF2-40B4-BE49-F238E27FC236}">
                <a16:creationId xmlns:a16="http://schemas.microsoft.com/office/drawing/2014/main" id="{FEF2714D-79E9-4D24-B828-E5598CAAE9C7}"/>
              </a:ext>
            </a:extLst>
          </p:cNvPr>
          <p:cNvSpPr>
            <a:spLocks xmlns:a="http://schemas.openxmlformats.org/drawingml/2006/main" noGrp="1"/>
          </p:cNvSpPr>
          <p:nvPr/>
        </p:nvSpPr>
        <p:spPr>
          <a:xfrm xmlns:a="http://schemas.openxmlformats.org/drawingml/2006/main">
            <a:off x="552450" y="40005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5243B"/>
                </a:solidFill>
                <a:latin typeface="Arial"/>
                <a:ea typeface="Arial"/>
                <a:cs typeface="Arial"/>
              </a:defRPr>
            </a:defPPr>
          </a:lstStyle>
          <a:p xmlns:a="http://schemas.openxmlformats.org/drawingml/2006/main">
            <a:pPr>
              <a:defRPr sz="2850" b="1">
                <a:solidFill>
                  <a:srgbClr val="15243B"/>
                </a:solidFill>
                <a:latin typeface="Arial"/>
                <a:ea typeface="Arial"/>
                <a:cs typeface="Arial"/>
              </a:defRPr>
            </a:pPr>
            <a:r>
              <a:rPr sz="2850" b="1">
                <a:solidFill>
                  <a:srgbClr val="15243B"/>
                </a:solidFill>
                <a:latin typeface="Arial"/>
                <a:ea typeface="Arial"/>
                <a:cs typeface="Arial"/>
              </a:rPr>
              <a:t>Linear regression wins the initial benchmark</a:t>
            </a:r>
          </a:p>
        </p:txBody>
      </p:sp>
      <p:sp>
        <p:nvSpPr>
          <p:cNvPr id="3" name="Select on validation, then evaluate">
            <a:extLst xmlns:a="http://schemas.openxmlformats.org/drawingml/2006/main">
              <a:ext uri="{FF2B5EF4-FFF2-40B4-BE49-F238E27FC236}">
                <a16:creationId xmlns:a16="http://schemas.microsoft.com/office/drawing/2014/main" id="{20C5F43B-2A63-4B80-B5B3-61AB12794466}"/>
              </a:ext>
            </a:extLst>
          </p:cNvPr>
          <p:cNvSpPr>
            <a:spLocks xmlns:a="http://schemas.openxmlformats.org/drawingml/2006/main" noGrp="1"/>
          </p:cNvSpPr>
          <p:nvPr/>
        </p:nvSpPr>
        <p:spPr>
          <a:xfrm xmlns:a="http://schemas.openxmlformats.org/drawingml/2006/main">
            <a:off x="571500" y="10668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579"/>
                </a:solidFill>
                <a:latin typeface="Arial"/>
                <a:ea typeface="Arial"/>
                <a:cs typeface="Arial"/>
              </a:defRPr>
            </a:defPPr>
          </a:lstStyle>
          <a:p xmlns:a="http://schemas.openxmlformats.org/drawingml/2006/main">
            <a:pPr>
              <a:defRPr sz="1575" b="0">
                <a:solidFill>
                  <a:srgbClr val="536579"/>
                </a:solidFill>
                <a:latin typeface="Arial"/>
                <a:ea typeface="Arial"/>
                <a:cs typeface="Arial"/>
              </a:defRPr>
            </a:pPr>
            <a:r>
              <a:rPr sz="1575" b="0">
                <a:solidFill>
                  <a:srgbClr val="536579"/>
                </a:solidFill>
                <a:latin typeface="Arial"/>
                <a:ea typeface="Arial"/>
                <a:cs typeface="Arial"/>
              </a:rPr>
              <a:t>Select on validation, then evaluate the frozen choice on the held-out period</a:t>
            </a:r>
          </a:p>
        </p:txBody>
      </p:sp>
      <p:sp>
        <p:nvSpPr>
          <p:cNvPr id="4" name="">
            <a:extLst xmlns:a="http://schemas.openxmlformats.org/drawingml/2006/main">
              <a:ext uri="{FF2B5EF4-FFF2-40B4-BE49-F238E27FC236}">
                <a16:creationId xmlns:a16="http://schemas.microsoft.com/office/drawing/2014/main" id="{2CC483C1-31E0-4E29-98C1-BBB62F50DE85}"/>
              </a:ext>
            </a:extLst>
          </p:cNvPr>
          <p:cNvSpPr>
            <a:spLocks xmlns:a="http://schemas.openxmlformats.org/drawingml/2006/main" noGrp="1"/>
          </p:cNvSpPr>
          <p:nvPr/>
        </p:nvSpPr>
        <p:spPr>
          <a:xfrm xmlns:a="http://schemas.openxmlformats.org/drawingml/2006/main">
            <a:off x="571500" y="6324600"/>
            <a:ext cx="11049000" cy="9525"/>
          </a:xfrm>
          <a:prstGeom xmlns:a="http://schemas.openxmlformats.org/drawingml/2006/main" prst="rect">
            <a:avLst/>
          </a:prstGeom>
          <a:solidFill xmlns:a="http://schemas.openxmlformats.org/drawingml/2006/main">
            <a:srgbClr val="DBE4EE"/>
          </a:solidFill>
          <a:ln xmlns:a="http://schemas.openxmlformats.org/drawingml/2006/main" w="0">
            <a:noFill/>
          </a:ln>
        </p:spPr>
      </p:sp>
      <p:sp>
        <p:nvSpPr>
          <p:cNvPr id="5" name="Tetouan GridWatch  /  Week 10 progr">
            <a:extLst xmlns:a="http://schemas.openxmlformats.org/drawingml/2006/main">
              <a:ext uri="{FF2B5EF4-FFF2-40B4-BE49-F238E27FC236}">
                <a16:creationId xmlns:a16="http://schemas.microsoft.com/office/drawing/2014/main" id="{A6B03288-1BC8-49F5-8709-0AA5DFCF383C}"/>
              </a:ext>
            </a:extLst>
          </p:cNvPr>
          <p:cNvSpPr>
            <a:spLocks xmlns:a="http://schemas.openxmlformats.org/drawingml/2006/main" noGrp="1"/>
          </p:cNvSpPr>
          <p:nvPr/>
        </p:nvSpPr>
        <p:spPr>
          <a:xfrm xmlns:a="http://schemas.openxmlformats.org/drawingml/2006/main">
            <a:off x="571500" y="647700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6579"/>
                </a:solidFill>
                <a:latin typeface="Arial"/>
                <a:ea typeface="Arial"/>
                <a:cs typeface="Arial"/>
              </a:defRPr>
            </a:defPPr>
          </a:lstStyle>
          <a:p xmlns:a="http://schemas.openxmlformats.org/drawingml/2006/main">
            <a:pPr>
              <a:defRPr sz="1125" b="0">
                <a:solidFill>
                  <a:srgbClr val="536579"/>
                </a:solidFill>
                <a:latin typeface="Arial"/>
                <a:ea typeface="Arial"/>
                <a:cs typeface="Arial"/>
              </a:defRPr>
            </a:pPr>
            <a:r>
              <a:rPr sz="1125" b="0">
                <a:solidFill>
                  <a:srgbClr val="536579"/>
                </a:solidFill>
                <a:latin typeface="Arial"/>
                <a:ea typeface="Arial"/>
                <a:cs typeface="Arial"/>
              </a:rPr>
              <a:t>Tetouan GridWatch  /  Week 10 progress  /  8 October 2026</a:t>
            </a:r>
          </a:p>
        </p:txBody>
      </p:sp>
      <p:sp>
        <p:nvSpPr>
          <p:cNvPr id="6" name="04">
            <a:extLst xmlns:a="http://schemas.openxmlformats.org/drawingml/2006/main">
              <a:ext uri="{FF2B5EF4-FFF2-40B4-BE49-F238E27FC236}">
                <a16:creationId xmlns:a16="http://schemas.microsoft.com/office/drawing/2014/main" id="{C216EBDD-794B-49A3-9449-0AA1D85FEA57}"/>
              </a:ext>
            </a:extLst>
          </p:cNvPr>
          <p:cNvSpPr>
            <a:spLocks xmlns:a="http://schemas.openxmlformats.org/drawingml/2006/main" noGrp="1"/>
          </p:cNvSpPr>
          <p:nvPr/>
        </p:nvSpPr>
        <p:spPr>
          <a:xfrm xmlns:a="http://schemas.openxmlformats.org/drawingml/2006/main">
            <a:off x="11144250" y="64770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6579"/>
                </a:solidFill>
                <a:latin typeface="Arial"/>
                <a:ea typeface="Arial"/>
                <a:cs typeface="Arial"/>
              </a:defRPr>
            </a:defPPr>
          </a:lstStyle>
          <a:p xmlns:a="http://schemas.openxmlformats.org/drawingml/2006/main">
            <a:pPr>
              <a:defRPr sz="1125" b="0">
                <a:solidFill>
                  <a:srgbClr val="536579"/>
                </a:solidFill>
                <a:latin typeface="Arial"/>
                <a:ea typeface="Arial"/>
                <a:cs typeface="Arial"/>
              </a:defRPr>
            </a:pPr>
            <a:r>
              <a:rPr sz="1125" b="0">
                <a:solidFill>
                  <a:srgbClr val="536579"/>
                </a:solidFill>
                <a:latin typeface="Arial"/>
                <a:ea typeface="Arial"/>
                <a:cs typeface="Arial"/>
              </a:rPr>
              <a:t>04</a:t>
            </a:r>
          </a:p>
        </p:txBody>
      </p:sp>
      <p:graphicFrame>
        <p:nvGraphicFramePr>
          <p:cNvPr id="7" name="Chart">
            <a:extLst xmlns:a="http://schemas.openxmlformats.org/drawingml/2006/main">
              <a:ext uri="{FF2B5EF4-FFF2-40B4-BE49-F238E27FC236}">
                <a16:creationId xmlns:a16="http://schemas.microsoft.com/office/drawing/2014/main" id="{41835AB3-2921-4834-9E00-D56E00598631}"/>
              </a:ext>
            </a:extLst>
          </p:cNvPr>
          <p:cNvGraphicFramePr/>
          <p:nvPr/>
        </p:nvGraphicFramePr>
        <p:xfrm>
          <a:off xmlns:a="http://schemas.openxmlformats.org/drawingml/2006/main" x="571500" y="1981200"/>
          <a:ext xmlns:a="http://schemas.openxmlformats.org/drawingml/2006/main" cx="5524500" cy="3571875"/>
        </p:xfrm>
        <a:graphic xmlns:a="http://schemas.openxmlformats.org/drawingml/2006/main">
          <a:graphicData uri="http://schemas.openxmlformats.org/drawingml/2006/chart">
            <c:chart xmlns:r="http://schemas.openxmlformats.org/officeDocument/2006/relationships" xmlns:c="http://schemas.openxmlformats.org/drawingml/2006/chart" r:id="Rc23464447d184e4e"/>
          </a:graphicData>
        </a:graphic>
      </p:graphicFrame>
      <p:sp>
        <p:nvSpPr>
          <p:cNvPr id="8" name="Held-out test">
            <a:extLst xmlns:a="http://schemas.openxmlformats.org/drawingml/2006/main">
              <a:ext uri="{FF2B5EF4-FFF2-40B4-BE49-F238E27FC236}">
                <a16:creationId xmlns:a16="http://schemas.microsoft.com/office/drawing/2014/main" id="{969B88F6-26F5-4D83-ADBF-78F40A139A97}"/>
              </a:ext>
            </a:extLst>
          </p:cNvPr>
          <p:cNvSpPr>
            <a:spLocks xmlns:a="http://schemas.openxmlformats.org/drawingml/2006/main" noGrp="1"/>
          </p:cNvSpPr>
          <p:nvPr/>
        </p:nvSpPr>
        <p:spPr>
          <a:xfrm xmlns:a="http://schemas.openxmlformats.org/drawingml/2006/main">
            <a:off x="6686550" y="1885950"/>
            <a:ext cx="4857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563EB"/>
                </a:solidFill>
                <a:latin typeface="Arial"/>
                <a:ea typeface="Arial"/>
                <a:cs typeface="Arial"/>
              </a:defRPr>
            </a:defPPr>
          </a:lstStyle>
          <a:p xmlns:a="http://schemas.openxmlformats.org/drawingml/2006/main">
            <a:pPr>
              <a:defRPr sz="2100" b="1">
                <a:solidFill>
                  <a:srgbClr val="2563EB"/>
                </a:solidFill>
                <a:latin typeface="Arial"/>
                <a:ea typeface="Arial"/>
                <a:cs typeface="Arial"/>
              </a:defRPr>
            </a:pPr>
            <a:r>
              <a:rPr sz="2100" b="1">
                <a:solidFill>
                  <a:srgbClr val="2563EB"/>
                </a:solidFill>
                <a:latin typeface="Arial"/>
                <a:ea typeface="Arial"/>
                <a:cs typeface="Arial"/>
              </a:rPr>
              <a:t>Held-out test</a:t>
            </a:r>
          </a:p>
        </p:txBody>
      </p:sp>
      <p:graphicFrame>
        <p:nvGraphicFramePr>
          <p:cNvPr id="9" name="">
            <a:extLst xmlns:a="http://schemas.openxmlformats.org/drawingml/2006/main">
              <a:ext uri="{FF2B5EF4-FFF2-40B4-BE49-F238E27FC236}">
                <a16:creationId xmlns:a16="http://schemas.microsoft.com/office/drawing/2014/main" id="{BD27B089-82B0-4FF5-943A-F34680D1BE65}"/>
              </a:ext>
            </a:extLst>
          </p:cNvPr>
          <p:cNvGraphicFramePr/>
          <p:nvPr/>
        </p:nvGraphicFramePr>
        <p:xfrm>
          <a:off xmlns:a="http://schemas.openxmlformats.org/drawingml/2006/main" x="6686550" y="2486025"/>
          <a:ext xmlns:a="http://schemas.openxmlformats.org/drawingml/2006/main" cx="4857750" cy="2409825"/>
        </p:xfrm>
        <a:graphic xmlns:a="http://schemas.openxmlformats.org/drawingml/2006/main">
          <a:graphicData uri="http://schemas.openxmlformats.org/drawingml/2006/table">
            <a:tbl>
              <a:tblPr/>
              <a:tblGrid>
                <a:gridCol w="2266950"/>
                <a:gridCol w="1295400"/>
                <a:gridCol w="1295400"/>
              </a:tblGrid>
              <a:tr h="602456">
                <a:tc>
                  <a:txBody>
                    <a:bodyPr/>
                    <a:lstStyle/>
                    <a:p>
                      <a:r>
                        <a:rPr sz="1650" b="1">
                          <a:solidFill>
                            <a:srgbClr val="FFFFFF"/>
                          </a:solidFill>
                          <a:latin typeface="Arial"/>
                          <a:ea typeface="Arial"/>
                          <a:cs typeface="Arial"/>
                        </a:rPr>
                        <a:t>Model</a:t>
                      </a:r>
                    </a:p>
                  </a:txBody>
                  <a:tcPr marL="114300" marR="95250" marT="95250" marB="76200" anchor="ctr">
                    <a:solidFill>
                      <a:srgbClr val="15243B"/>
                    </a:solidFill>
                  </a:tcPr>
                </a:tc>
                <a:tc>
                  <a:txBody>
                    <a:bodyPr/>
                    <a:lstStyle/>
                    <a:p>
                      <a:r>
                        <a:rPr sz="1650" b="1">
                          <a:solidFill>
                            <a:srgbClr val="FFFFFF"/>
                          </a:solidFill>
                          <a:latin typeface="Arial"/>
                          <a:ea typeface="Arial"/>
                          <a:cs typeface="Arial"/>
                        </a:rPr>
                        <a:t>Avg MAE</a:t>
                      </a:r>
                    </a:p>
                  </a:txBody>
                  <a:tcPr marL="114300" marR="95250" marT="95250" marB="76200" anchor="ctr">
                    <a:solidFill>
                      <a:srgbClr val="15243B"/>
                    </a:solidFill>
                  </a:tcPr>
                </a:tc>
                <a:tc>
                  <a:txBody>
                    <a:bodyPr/>
                    <a:lstStyle/>
                    <a:p>
                      <a:r>
                        <a:rPr sz="1650" b="1">
                          <a:solidFill>
                            <a:srgbClr val="FFFFFF"/>
                          </a:solidFill>
                          <a:latin typeface="Arial"/>
                          <a:ea typeface="Arial"/>
                          <a:cs typeface="Arial"/>
                        </a:rPr>
                        <a:t>Avg R²</a:t>
                      </a:r>
                    </a:p>
                  </a:txBody>
                  <a:tcPr marL="114300" marR="95250" marT="95250" marB="76200" anchor="ctr">
                    <a:solidFill>
                      <a:srgbClr val="15243B"/>
                    </a:solidFill>
                  </a:tcPr>
                </a:tc>
              </a:tr>
              <a:tr h="602456">
                <a:tc>
                  <a:txBody>
                    <a:bodyPr/>
                    <a:lstStyle/>
                    <a:p>
                      <a:r>
                        <a:rPr sz="1650" b="0">
                          <a:solidFill>
                            <a:srgbClr val="15243B"/>
                          </a:solidFill>
                          <a:latin typeface="Arial"/>
                          <a:ea typeface="Arial"/>
                          <a:cs typeface="Arial"/>
                        </a:rPr>
                        <a:t>Linear</a:t>
                      </a:r>
                    </a:p>
                  </a:txBody>
                  <a:tcPr marL="114300" marR="95250" marT="95250" marB="76200" anchor="ctr">
                    <a:solidFill>
                      <a:srgbClr val="F1F5F9"/>
                    </a:solidFill>
                  </a:tcPr>
                </a:tc>
                <a:tc>
                  <a:txBody>
                    <a:bodyPr/>
                    <a:lstStyle/>
                    <a:p>
                      <a:r>
                        <a:rPr sz="1650" b="0">
                          <a:solidFill>
                            <a:srgbClr val="15243B"/>
                          </a:solidFill>
                          <a:latin typeface="Arial"/>
                          <a:ea typeface="Arial"/>
                          <a:cs typeface="Arial"/>
                        </a:rPr>
                        <a:t>357.31</a:t>
                      </a:r>
                    </a:p>
                  </a:txBody>
                  <a:tcPr marL="114300" marR="95250" marT="95250" marB="76200" anchor="ctr">
                    <a:solidFill>
                      <a:srgbClr val="F1F5F9"/>
                    </a:solidFill>
                  </a:tcPr>
                </a:tc>
                <a:tc>
                  <a:txBody>
                    <a:bodyPr/>
                    <a:lstStyle/>
                    <a:p>
                      <a:r>
                        <a:rPr sz="1650" b="0">
                          <a:solidFill>
                            <a:srgbClr val="15243B"/>
                          </a:solidFill>
                          <a:latin typeface="Arial"/>
                          <a:ea typeface="Arial"/>
                          <a:cs typeface="Arial"/>
                        </a:rPr>
                        <a:t>0.9867</a:t>
                      </a:r>
                    </a:p>
                  </a:txBody>
                  <a:tcPr marL="114300" marR="95250" marT="95250" marB="76200" anchor="ctr">
                    <a:solidFill>
                      <a:srgbClr val="F1F5F9"/>
                    </a:solidFill>
                  </a:tcPr>
                </a:tc>
              </a:tr>
              <a:tr h="602456">
                <a:tc>
                  <a:txBody>
                    <a:bodyPr/>
                    <a:lstStyle/>
                    <a:p>
                      <a:r>
                        <a:rPr sz="1650" b="0">
                          <a:solidFill>
                            <a:srgbClr val="15243B"/>
                          </a:solidFill>
                          <a:latin typeface="Arial"/>
                          <a:ea typeface="Arial"/>
                          <a:cs typeface="Arial"/>
                        </a:rPr>
                        <a:t>Persistence</a:t>
                      </a:r>
                    </a:p>
                  </a:txBody>
                  <a:tcPr marL="114300" marR="95250" marT="95250" marB="76200" anchor="ctr">
                    <a:solidFill>
                      <a:srgbClr val="FFFFFF"/>
                    </a:solidFill>
                  </a:tcPr>
                </a:tc>
                <a:tc>
                  <a:txBody>
                    <a:bodyPr/>
                    <a:lstStyle/>
                    <a:p>
                      <a:r>
                        <a:rPr sz="1650" b="0">
                          <a:solidFill>
                            <a:srgbClr val="15243B"/>
                          </a:solidFill>
                          <a:latin typeface="Arial"/>
                          <a:ea typeface="Arial"/>
                          <a:cs typeface="Arial"/>
                        </a:rPr>
                        <a:t>776.60</a:t>
                      </a:r>
                    </a:p>
                  </a:txBody>
                  <a:tcPr marL="114300" marR="95250" marT="95250" marB="76200" anchor="ctr">
                    <a:solidFill>
                      <a:srgbClr val="FFFFFF"/>
                    </a:solidFill>
                  </a:tcPr>
                </a:tc>
                <a:tc>
                  <a:txBody>
                    <a:bodyPr/>
                    <a:lstStyle/>
                    <a:p>
                      <a:r>
                        <a:rPr sz="1650" b="0">
                          <a:solidFill>
                            <a:srgbClr val="15243B"/>
                          </a:solidFill>
                          <a:latin typeface="Arial"/>
                          <a:ea typeface="Arial"/>
                          <a:cs typeface="Arial"/>
                        </a:rPr>
                        <a:t>0.9451</a:t>
                      </a:r>
                    </a:p>
                  </a:txBody>
                  <a:tcPr marL="114300" marR="95250" marT="95250" marB="76200" anchor="ctr">
                    <a:solidFill>
                      <a:srgbClr val="FFFFFF"/>
                    </a:solidFill>
                  </a:tcPr>
                </a:tc>
              </a:tr>
              <a:tr h="602456">
                <a:tc>
                  <a:txBody>
                    <a:bodyPr/>
                    <a:lstStyle/>
                    <a:p>
                      <a:r>
                        <a:rPr sz="1650" b="0">
                          <a:solidFill>
                            <a:srgbClr val="15243B"/>
                          </a:solidFill>
                          <a:latin typeface="Arial"/>
                          <a:ea typeface="Arial"/>
                          <a:cs typeface="Arial"/>
                        </a:rPr>
                        <a:t>Previous day</a:t>
                      </a:r>
                    </a:p>
                  </a:txBody>
                  <a:tcPr marL="114300" marR="95250" marT="95250" marB="76200" anchor="ctr">
                    <a:solidFill>
                      <a:srgbClr val="F1F5F9"/>
                    </a:solidFill>
                  </a:tcPr>
                </a:tc>
                <a:tc>
                  <a:txBody>
                    <a:bodyPr/>
                    <a:lstStyle/>
                    <a:p>
                      <a:r>
                        <a:rPr sz="1650" b="0">
                          <a:solidFill>
                            <a:srgbClr val="15243B"/>
                          </a:solidFill>
                          <a:latin typeface="Arial"/>
                          <a:ea typeface="Arial"/>
                          <a:cs typeface="Arial"/>
                        </a:rPr>
                        <a:t>951.92</a:t>
                      </a:r>
                    </a:p>
                  </a:txBody>
                  <a:tcPr marL="114300" marR="95250" marT="95250" marB="76200" anchor="ctr">
                    <a:solidFill>
                      <a:srgbClr val="F1F5F9"/>
                    </a:solidFill>
                  </a:tcPr>
                </a:tc>
                <a:tc>
                  <a:txBody>
                    <a:bodyPr/>
                    <a:lstStyle/>
                    <a:p>
                      <a:r>
                        <a:rPr sz="1650" b="0">
                          <a:solidFill>
                            <a:srgbClr val="15243B"/>
                          </a:solidFill>
                          <a:latin typeface="Arial"/>
                          <a:ea typeface="Arial"/>
                          <a:cs typeface="Arial"/>
                        </a:rPr>
                        <a:t>0.8949</a:t>
                      </a:r>
                    </a:p>
                  </a:txBody>
                  <a:tcPr marL="114300" marR="95250" marT="95250" marB="76200" anchor="ctr">
                    <a:solidFill>
                      <a:srgbClr val="F1F5F9"/>
                    </a:solidFill>
                  </a:tcPr>
                </a:tc>
              </a:tr>
            </a:tbl>
          </a:graphicData>
        </a:graphic>
      </p:graphicFrame>
      <p:sp>
        <p:nvSpPr>
          <p:cNvPr id="10" name="54% lower MAE&#10;than persistence">
            <a:extLst xmlns:a="http://schemas.openxmlformats.org/drawingml/2006/main">
              <a:ext uri="{FF2B5EF4-FFF2-40B4-BE49-F238E27FC236}">
                <a16:creationId xmlns:a16="http://schemas.microsoft.com/office/drawing/2014/main" id="{4D7111EF-5B91-4D29-89A2-DE43DD8C06ED}"/>
              </a:ext>
            </a:extLst>
          </p:cNvPr>
          <p:cNvSpPr>
            <a:spLocks xmlns:a="http://schemas.openxmlformats.org/drawingml/2006/main" noGrp="1"/>
          </p:cNvSpPr>
          <p:nvPr/>
        </p:nvSpPr>
        <p:spPr>
          <a:xfrm xmlns:a="http://schemas.openxmlformats.org/drawingml/2006/main">
            <a:off x="6686550" y="5191125"/>
            <a:ext cx="4857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1">
                <a:solidFill>
                  <a:srgbClr val="059669"/>
                </a:solidFill>
                <a:latin typeface="Arial"/>
                <a:ea typeface="Arial"/>
                <a:cs typeface="Arial"/>
              </a:defRPr>
            </a:defPPr>
          </a:lstStyle>
          <a:p xmlns:a="http://schemas.openxmlformats.org/drawingml/2006/main">
            <a:pPr>
              <a:defRPr sz="2550" b="1">
                <a:solidFill>
                  <a:srgbClr val="059669"/>
                </a:solidFill>
                <a:latin typeface="Arial"/>
                <a:ea typeface="Arial"/>
                <a:cs typeface="Arial"/>
              </a:defRPr>
            </a:pPr>
            <a:r>
              <a:rPr sz="2550" b="1">
                <a:solidFill>
                  <a:srgbClr val="059669"/>
                </a:solidFill>
                <a:latin typeface="Arial"/>
                <a:ea typeface="Arial"/>
                <a:cs typeface="Arial"/>
              </a:rPr>
              <a:t>54% lower MAE</a:t>
            </a:r>
          </a:p>
          <a:p xmlns:a="http://schemas.openxmlformats.org/drawingml/2006/main">
            <a:pPr>
              <a:defRPr sz="2550" b="1">
                <a:solidFill>
                  <a:srgbClr val="059669"/>
                </a:solidFill>
                <a:latin typeface="Arial"/>
                <a:ea typeface="Arial"/>
                <a:cs typeface="Arial"/>
              </a:defRPr>
            </a:pPr>
            <a:r>
              <a:rPr sz="2550" b="1">
                <a:solidFill>
                  <a:srgbClr val="059669"/>
                </a:solidFill>
                <a:latin typeface="Arial"/>
                <a:ea typeface="Arial"/>
                <a:cs typeface="Arial"/>
              </a:rPr>
              <a:t>than persistence</a:t>
            </a:r>
          </a:p>
        </p:txBody>
      </p:sp>
      <p:sp>
        <p:nvSpPr>
          <p:cNvPr id="11" name="One provisional split. Error reduct">
            <a:extLst xmlns:a="http://schemas.openxmlformats.org/drawingml/2006/main">
              <a:ext uri="{FF2B5EF4-FFF2-40B4-BE49-F238E27FC236}">
                <a16:creationId xmlns:a16="http://schemas.microsoft.com/office/drawing/2014/main" id="{A09FBB81-EB4B-4A2A-B38B-ED87E61E92AA}"/>
              </a:ext>
            </a:extLst>
          </p:cNvPr>
          <p:cNvSpPr>
            <a:spLocks xmlns:a="http://schemas.openxmlformats.org/drawingml/2006/main" noGrp="1"/>
          </p:cNvSpPr>
          <p:nvPr/>
        </p:nvSpPr>
        <p:spPr>
          <a:xfrm xmlns:a="http://schemas.openxmlformats.org/drawingml/2006/main">
            <a:off x="571500" y="5724525"/>
            <a:ext cx="5857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536579"/>
                </a:solidFill>
                <a:latin typeface="Arial"/>
                <a:ea typeface="Arial"/>
                <a:cs typeface="Arial"/>
              </a:defRPr>
            </a:defPPr>
          </a:lstStyle>
          <a:p xmlns:a="http://schemas.openxmlformats.org/drawingml/2006/main">
            <a:pPr>
              <a:defRPr sz="1650" b="0">
                <a:solidFill>
                  <a:srgbClr val="536579"/>
                </a:solidFill>
                <a:latin typeface="Arial"/>
                <a:ea typeface="Arial"/>
                <a:cs typeface="Arial"/>
              </a:defRPr>
            </a:pPr>
            <a:r>
              <a:rPr sz="1650" b="0">
                <a:solidFill>
                  <a:srgbClr val="536579"/>
                </a:solidFill>
                <a:latin typeface="Arial"/>
                <a:ea typeface="Arial"/>
                <a:cs typeface="Arial"/>
              </a:rPr>
              <a:t>One provisional split. Error reduction does not mean percent accuracy.</a:t>
            </a:r>
          </a:p>
        </p:txBody>
      </p:sp>
    </p:spTree>
    <p:extLst>
      <p:ext uri="{BB962C8B-B14F-4D97-AF65-F5344CB8AC3E}">
        <p14:creationId xmlns:p14="http://schemas.microsoft.com/office/powerpoint/2010/main" val="107184154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C366E6A-0899-42CF-8EDA-E5F694F2AB9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563EB"/>
          </a:solidFill>
          <a:ln xmlns:a="http://schemas.openxmlformats.org/drawingml/2006/main" w="0">
            <a:noFill/>
          </a:ln>
        </p:spPr>
      </p:sp>
      <p:sp>
        <p:nvSpPr>
          <p:cNvPr id="2" name="Alert quality depends on the zone a">
            <a:extLst xmlns:a="http://schemas.openxmlformats.org/drawingml/2006/main">
              <a:ext uri="{FF2B5EF4-FFF2-40B4-BE49-F238E27FC236}">
                <a16:creationId xmlns:a16="http://schemas.microsoft.com/office/drawing/2014/main" id="{FABB1A16-38EF-41EF-BE75-F58D2CF5B058}"/>
              </a:ext>
            </a:extLst>
          </p:cNvPr>
          <p:cNvSpPr>
            <a:spLocks xmlns:a="http://schemas.openxmlformats.org/drawingml/2006/main" noGrp="1"/>
          </p:cNvSpPr>
          <p:nvPr/>
        </p:nvSpPr>
        <p:spPr>
          <a:xfrm xmlns:a="http://schemas.openxmlformats.org/drawingml/2006/main">
            <a:off x="552450" y="40005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5243B"/>
                </a:solidFill>
                <a:latin typeface="Arial"/>
                <a:ea typeface="Arial"/>
                <a:cs typeface="Arial"/>
              </a:defRPr>
            </a:defPPr>
          </a:lstStyle>
          <a:p xmlns:a="http://schemas.openxmlformats.org/drawingml/2006/main">
            <a:pPr>
              <a:defRPr sz="2850" b="1">
                <a:solidFill>
                  <a:srgbClr val="15243B"/>
                </a:solidFill>
                <a:latin typeface="Arial"/>
                <a:ea typeface="Arial"/>
                <a:cs typeface="Arial"/>
              </a:defRPr>
            </a:pPr>
            <a:r>
              <a:rPr sz="2850" b="1">
                <a:solidFill>
                  <a:srgbClr val="15243B"/>
                </a:solidFill>
                <a:latin typeface="Arial"/>
                <a:ea typeface="Arial"/>
                <a:cs typeface="Arial"/>
              </a:rPr>
              <a:t>Alert quality depends on the zone and operating point</a:t>
            </a:r>
          </a:p>
        </p:txBody>
      </p:sp>
      <p:sp>
        <p:nvSpPr>
          <p:cNvPr id="3" name="Direct classification and forecast ">
            <a:extLst xmlns:a="http://schemas.openxmlformats.org/drawingml/2006/main">
              <a:ext uri="{FF2B5EF4-FFF2-40B4-BE49-F238E27FC236}">
                <a16:creationId xmlns:a16="http://schemas.microsoft.com/office/drawing/2014/main" id="{A5C7708D-535C-47D1-AB42-54BD75AB91A5}"/>
              </a:ext>
            </a:extLst>
          </p:cNvPr>
          <p:cNvSpPr>
            <a:spLocks xmlns:a="http://schemas.openxmlformats.org/drawingml/2006/main" noGrp="1"/>
          </p:cNvSpPr>
          <p:nvPr/>
        </p:nvSpPr>
        <p:spPr>
          <a:xfrm xmlns:a="http://schemas.openxmlformats.org/drawingml/2006/main">
            <a:off x="571500" y="10668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579"/>
                </a:solidFill>
                <a:latin typeface="Arial"/>
                <a:ea typeface="Arial"/>
                <a:cs typeface="Arial"/>
              </a:defRPr>
            </a:defPPr>
          </a:lstStyle>
          <a:p xmlns:a="http://schemas.openxmlformats.org/drawingml/2006/main">
            <a:pPr>
              <a:defRPr sz="1575" b="0">
                <a:solidFill>
                  <a:srgbClr val="536579"/>
                </a:solidFill>
                <a:latin typeface="Arial"/>
                <a:ea typeface="Arial"/>
                <a:cs typeface="Arial"/>
              </a:defRPr>
            </a:pPr>
            <a:r>
              <a:rPr sz="1575" b="0">
                <a:solidFill>
                  <a:srgbClr val="536579"/>
                </a:solidFill>
                <a:latin typeface="Arial"/>
                <a:ea typeface="Arial"/>
                <a:cs typeface="Arial"/>
              </a:rPr>
              <a:t>Direct classification and forecast scores target the same 5% validation false-positive budget</a:t>
            </a:r>
          </a:p>
        </p:txBody>
      </p:sp>
      <p:sp>
        <p:nvSpPr>
          <p:cNvPr id="4" name="">
            <a:extLst xmlns:a="http://schemas.openxmlformats.org/drawingml/2006/main">
              <a:ext uri="{FF2B5EF4-FFF2-40B4-BE49-F238E27FC236}">
                <a16:creationId xmlns:a16="http://schemas.microsoft.com/office/drawing/2014/main" id="{040B8885-3AAF-40AB-BD2C-14F639162124}"/>
              </a:ext>
            </a:extLst>
          </p:cNvPr>
          <p:cNvSpPr>
            <a:spLocks xmlns:a="http://schemas.openxmlformats.org/drawingml/2006/main" noGrp="1"/>
          </p:cNvSpPr>
          <p:nvPr/>
        </p:nvSpPr>
        <p:spPr>
          <a:xfrm xmlns:a="http://schemas.openxmlformats.org/drawingml/2006/main">
            <a:off x="571500" y="6324600"/>
            <a:ext cx="11049000" cy="9525"/>
          </a:xfrm>
          <a:prstGeom xmlns:a="http://schemas.openxmlformats.org/drawingml/2006/main" prst="rect">
            <a:avLst/>
          </a:prstGeom>
          <a:solidFill xmlns:a="http://schemas.openxmlformats.org/drawingml/2006/main">
            <a:srgbClr val="DBE4EE"/>
          </a:solidFill>
          <a:ln xmlns:a="http://schemas.openxmlformats.org/drawingml/2006/main" w="0">
            <a:noFill/>
          </a:ln>
        </p:spPr>
      </p:sp>
      <p:sp>
        <p:nvSpPr>
          <p:cNvPr id="5" name="Tetouan GridWatch  /  Week 10 progr">
            <a:extLst xmlns:a="http://schemas.openxmlformats.org/drawingml/2006/main">
              <a:ext uri="{FF2B5EF4-FFF2-40B4-BE49-F238E27FC236}">
                <a16:creationId xmlns:a16="http://schemas.microsoft.com/office/drawing/2014/main" id="{CE88BF64-33B8-448B-A3FB-596EECF1955B}"/>
              </a:ext>
            </a:extLst>
          </p:cNvPr>
          <p:cNvSpPr>
            <a:spLocks xmlns:a="http://schemas.openxmlformats.org/drawingml/2006/main" noGrp="1"/>
          </p:cNvSpPr>
          <p:nvPr/>
        </p:nvSpPr>
        <p:spPr>
          <a:xfrm xmlns:a="http://schemas.openxmlformats.org/drawingml/2006/main">
            <a:off x="571500" y="647700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6579"/>
                </a:solidFill>
                <a:latin typeface="Arial"/>
                <a:ea typeface="Arial"/>
                <a:cs typeface="Arial"/>
              </a:defRPr>
            </a:defPPr>
          </a:lstStyle>
          <a:p xmlns:a="http://schemas.openxmlformats.org/drawingml/2006/main">
            <a:pPr>
              <a:defRPr sz="1125" b="0">
                <a:solidFill>
                  <a:srgbClr val="536579"/>
                </a:solidFill>
                <a:latin typeface="Arial"/>
                <a:ea typeface="Arial"/>
                <a:cs typeface="Arial"/>
              </a:defRPr>
            </a:pPr>
            <a:r>
              <a:rPr sz="1125" b="0">
                <a:solidFill>
                  <a:srgbClr val="536579"/>
                </a:solidFill>
                <a:latin typeface="Arial"/>
                <a:ea typeface="Arial"/>
                <a:cs typeface="Arial"/>
              </a:rPr>
              <a:t>Tetouan GridWatch  /  Week 10 progress  /  8 October 2026</a:t>
            </a:r>
          </a:p>
        </p:txBody>
      </p:sp>
      <p:sp>
        <p:nvSpPr>
          <p:cNvPr id="6" name="05">
            <a:extLst xmlns:a="http://schemas.openxmlformats.org/drawingml/2006/main">
              <a:ext uri="{FF2B5EF4-FFF2-40B4-BE49-F238E27FC236}">
                <a16:creationId xmlns:a16="http://schemas.microsoft.com/office/drawing/2014/main" id="{3051F04F-E6B5-4C0D-91C5-269391109BED}"/>
              </a:ext>
            </a:extLst>
          </p:cNvPr>
          <p:cNvSpPr>
            <a:spLocks xmlns:a="http://schemas.openxmlformats.org/drawingml/2006/main" noGrp="1"/>
          </p:cNvSpPr>
          <p:nvPr/>
        </p:nvSpPr>
        <p:spPr>
          <a:xfrm xmlns:a="http://schemas.openxmlformats.org/drawingml/2006/main">
            <a:off x="11144250" y="64770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6579"/>
                </a:solidFill>
                <a:latin typeface="Arial"/>
                <a:ea typeface="Arial"/>
                <a:cs typeface="Arial"/>
              </a:defRPr>
            </a:defPPr>
          </a:lstStyle>
          <a:p xmlns:a="http://schemas.openxmlformats.org/drawingml/2006/main">
            <a:pPr>
              <a:defRPr sz="1125" b="0">
                <a:solidFill>
                  <a:srgbClr val="536579"/>
                </a:solidFill>
                <a:latin typeface="Arial"/>
                <a:ea typeface="Arial"/>
                <a:cs typeface="Arial"/>
              </a:defRPr>
            </a:pPr>
            <a:r>
              <a:rPr sz="1125" b="0">
                <a:solidFill>
                  <a:srgbClr val="536579"/>
                </a:solidFill>
                <a:latin typeface="Arial"/>
                <a:ea typeface="Arial"/>
                <a:cs typeface="Arial"/>
              </a:rPr>
              <a:t>05</a:t>
            </a:r>
          </a:p>
        </p:txBody>
      </p:sp>
      <p:graphicFrame>
        <p:nvGraphicFramePr>
          <p:cNvPr id="7" name="">
            <a:extLst xmlns:a="http://schemas.openxmlformats.org/drawingml/2006/main">
              <a:ext uri="{FF2B5EF4-FFF2-40B4-BE49-F238E27FC236}">
                <a16:creationId xmlns:a16="http://schemas.microsoft.com/office/drawing/2014/main" id="{F27AC8CF-F0B1-47AB-A819-973C7B68C4C2}"/>
              </a:ext>
            </a:extLst>
          </p:cNvPr>
          <p:cNvGraphicFramePr/>
          <p:nvPr/>
        </p:nvGraphicFramePr>
        <p:xfrm>
          <a:off xmlns:a="http://schemas.openxmlformats.org/drawingml/2006/main" x="571500" y="1971675"/>
          <a:ext xmlns:a="http://schemas.openxmlformats.org/drawingml/2006/main" cx="11049000" cy="2971800"/>
        </p:xfrm>
        <a:graphic xmlns:a="http://schemas.openxmlformats.org/drawingml/2006/main">
          <a:graphicData uri="http://schemas.openxmlformats.org/drawingml/2006/table">
            <a:tbl>
              <a:tblPr/>
              <a:tblGrid>
                <a:gridCol w="3333750"/>
                <a:gridCol w="1952625"/>
                <a:gridCol w="1952625"/>
                <a:gridCol w="1857375"/>
                <a:gridCol w="1952625"/>
              </a:tblGrid>
              <a:tr h="495300">
                <a:tc>
                  <a:txBody>
                    <a:bodyPr/>
                    <a:lstStyle/>
                    <a:p>
                      <a:r>
                        <a:rPr sz="1650" b="1">
                          <a:solidFill>
                            <a:srgbClr val="FFFFFF"/>
                          </a:solidFill>
                          <a:latin typeface="Arial"/>
                          <a:ea typeface="Arial"/>
                          <a:cs typeface="Arial"/>
                        </a:rPr>
                        <a:t>Zone / strategy</a:t>
                      </a:r>
                    </a:p>
                  </a:txBody>
                  <a:tcPr marL="114300" marR="95250" marT="95250" marB="76200" anchor="ctr">
                    <a:solidFill>
                      <a:srgbClr val="15243B"/>
                    </a:solidFill>
                  </a:tcPr>
                </a:tc>
                <a:tc>
                  <a:txBody>
                    <a:bodyPr/>
                    <a:lstStyle/>
                    <a:p>
                      <a:r>
                        <a:rPr sz="1650" b="1">
                          <a:solidFill>
                            <a:srgbClr val="FFFFFF"/>
                          </a:solidFill>
                          <a:latin typeface="Arial"/>
                          <a:ea typeface="Arial"/>
                          <a:cs typeface="Arial"/>
                        </a:rPr>
                        <a:t>Recall</a:t>
                      </a:r>
                    </a:p>
                  </a:txBody>
                  <a:tcPr marL="114300" marR="95250" marT="95250" marB="76200" anchor="ctr">
                    <a:solidFill>
                      <a:srgbClr val="15243B"/>
                    </a:solidFill>
                  </a:tcPr>
                </a:tc>
                <a:tc>
                  <a:txBody>
                    <a:bodyPr/>
                    <a:lstStyle/>
                    <a:p>
                      <a:r>
                        <a:rPr sz="1650" b="1">
                          <a:solidFill>
                            <a:srgbClr val="FFFFFF"/>
                          </a:solidFill>
                          <a:latin typeface="Arial"/>
                          <a:ea typeface="Arial"/>
                          <a:cs typeface="Arial"/>
                        </a:rPr>
                        <a:t>Precision</a:t>
                      </a:r>
                    </a:p>
                  </a:txBody>
                  <a:tcPr marL="114300" marR="95250" marT="95250" marB="76200" anchor="ctr">
                    <a:solidFill>
                      <a:srgbClr val="15243B"/>
                    </a:solidFill>
                  </a:tcPr>
                </a:tc>
                <a:tc>
                  <a:txBody>
                    <a:bodyPr/>
                    <a:lstStyle/>
                    <a:p>
                      <a:r>
                        <a:rPr sz="1650" b="1">
                          <a:solidFill>
                            <a:srgbClr val="FFFFFF"/>
                          </a:solidFill>
                          <a:latin typeface="Arial"/>
                          <a:ea typeface="Arial"/>
                          <a:cs typeface="Arial"/>
                        </a:rPr>
                        <a:t>Test FPR</a:t>
                      </a:r>
                    </a:p>
                  </a:txBody>
                  <a:tcPr marL="114300" marR="95250" marT="95250" marB="76200" anchor="ctr">
                    <a:solidFill>
                      <a:srgbClr val="15243B"/>
                    </a:solidFill>
                  </a:tcPr>
                </a:tc>
                <a:tc>
                  <a:txBody>
                    <a:bodyPr/>
                    <a:lstStyle/>
                    <a:p>
                      <a:r>
                        <a:rPr sz="1650" b="1">
                          <a:solidFill>
                            <a:srgbClr val="FFFFFF"/>
                          </a:solidFill>
                          <a:latin typeface="Arial"/>
                          <a:ea typeface="Arial"/>
                          <a:cs typeface="Arial"/>
                        </a:rPr>
                        <a:t>Misses</a:t>
                      </a:r>
                    </a:p>
                  </a:txBody>
                  <a:tcPr marL="114300" marR="95250" marT="95250" marB="76200" anchor="ctr">
                    <a:solidFill>
                      <a:srgbClr val="15243B"/>
                    </a:solidFill>
                  </a:tcPr>
                </a:tc>
              </a:tr>
              <a:tr h="495300">
                <a:tc>
                  <a:txBody>
                    <a:bodyPr/>
                    <a:lstStyle/>
                    <a:p>
                      <a:r>
                        <a:rPr sz="1650" b="0">
                          <a:solidFill>
                            <a:srgbClr val="15243B"/>
                          </a:solidFill>
                          <a:latin typeface="Arial"/>
                          <a:ea typeface="Arial"/>
                          <a:cs typeface="Arial"/>
                        </a:rPr>
                        <a:t>1 / Direct</a:t>
                      </a:r>
                    </a:p>
                  </a:txBody>
                  <a:tcPr marL="114300" marR="95250" marT="95250" marB="76200" anchor="ctr">
                    <a:solidFill>
                      <a:srgbClr val="F1F5F9"/>
                    </a:solidFill>
                  </a:tcPr>
                </a:tc>
                <a:tc>
                  <a:txBody>
                    <a:bodyPr/>
                    <a:lstStyle/>
                    <a:p>
                      <a:r>
                        <a:rPr sz="1650" b="0">
                          <a:solidFill>
                            <a:srgbClr val="15243B"/>
                          </a:solidFill>
                          <a:latin typeface="Arial"/>
                          <a:ea typeface="Arial"/>
                          <a:cs typeface="Arial"/>
                        </a:rPr>
                        <a:t>100%</a:t>
                      </a:r>
                    </a:p>
                  </a:txBody>
                  <a:tcPr marL="114300" marR="95250" marT="95250" marB="76200" anchor="ctr">
                    <a:solidFill>
                      <a:srgbClr val="F1F5F9"/>
                    </a:solidFill>
                  </a:tcPr>
                </a:tc>
                <a:tc>
                  <a:txBody>
                    <a:bodyPr/>
                    <a:lstStyle/>
                    <a:p>
                      <a:r>
                        <a:rPr sz="1650" b="0">
                          <a:solidFill>
                            <a:srgbClr val="15243B"/>
                          </a:solidFill>
                          <a:latin typeface="Arial"/>
                          <a:ea typeface="Arial"/>
                          <a:cs typeface="Arial"/>
                        </a:rPr>
                        <a:t>4.11%</a:t>
                      </a:r>
                    </a:p>
                  </a:txBody>
                  <a:tcPr marL="114300" marR="95250" marT="95250" marB="76200" anchor="ctr">
                    <a:solidFill>
                      <a:srgbClr val="F1F5F9"/>
                    </a:solidFill>
                  </a:tcPr>
                </a:tc>
                <a:tc>
                  <a:txBody>
                    <a:bodyPr/>
                    <a:lstStyle/>
                    <a:p>
                      <a:r>
                        <a:rPr sz="1650" b="0">
                          <a:solidFill>
                            <a:srgbClr val="15243B"/>
                          </a:solidFill>
                          <a:latin typeface="Arial"/>
                          <a:ea typeface="Arial"/>
                          <a:cs typeface="Arial"/>
                        </a:rPr>
                        <a:t>2.67%</a:t>
                      </a:r>
                    </a:p>
                  </a:txBody>
                  <a:tcPr marL="114300" marR="95250" marT="95250" marB="76200" anchor="ctr">
                    <a:solidFill>
                      <a:srgbClr val="F1F5F9"/>
                    </a:solidFill>
                  </a:tcPr>
                </a:tc>
                <a:tc>
                  <a:txBody>
                    <a:bodyPr/>
                    <a:lstStyle/>
                    <a:p>
                      <a:r>
                        <a:rPr sz="1650" b="0">
                          <a:solidFill>
                            <a:srgbClr val="15243B"/>
                          </a:solidFill>
                          <a:latin typeface="Arial"/>
                          <a:ea typeface="Arial"/>
                          <a:cs typeface="Arial"/>
                        </a:rPr>
                        <a:t>0 / 9</a:t>
                      </a:r>
                    </a:p>
                  </a:txBody>
                  <a:tcPr marL="114300" marR="95250" marT="95250" marB="76200" anchor="ctr">
                    <a:solidFill>
                      <a:srgbClr val="F1F5F9"/>
                    </a:solidFill>
                  </a:tcPr>
                </a:tc>
              </a:tr>
              <a:tr h="495300">
                <a:tc>
                  <a:txBody>
                    <a:bodyPr/>
                    <a:lstStyle/>
                    <a:p>
                      <a:r>
                        <a:rPr sz="1650" b="0">
                          <a:solidFill>
                            <a:srgbClr val="15243B"/>
                          </a:solidFill>
                          <a:latin typeface="Arial"/>
                          <a:ea typeface="Arial"/>
                          <a:cs typeface="Arial"/>
                        </a:rPr>
                        <a:t>1 / Forecast score</a:t>
                      </a:r>
                    </a:p>
                  </a:txBody>
                  <a:tcPr marL="114300" marR="95250" marT="95250" marB="76200" anchor="ctr">
                    <a:solidFill>
                      <a:srgbClr val="FFFFFF"/>
                    </a:solidFill>
                  </a:tcPr>
                </a:tc>
                <a:tc>
                  <a:txBody>
                    <a:bodyPr/>
                    <a:lstStyle/>
                    <a:p>
                      <a:r>
                        <a:rPr sz="1650" b="0">
                          <a:solidFill>
                            <a:srgbClr val="15243B"/>
                          </a:solidFill>
                          <a:latin typeface="Arial"/>
                          <a:ea typeface="Arial"/>
                          <a:cs typeface="Arial"/>
                        </a:rPr>
                        <a:t>100%</a:t>
                      </a:r>
                    </a:p>
                  </a:txBody>
                  <a:tcPr marL="114300" marR="95250" marT="95250" marB="76200" anchor="ctr">
                    <a:solidFill>
                      <a:srgbClr val="FFFFFF"/>
                    </a:solidFill>
                  </a:tcPr>
                </a:tc>
                <a:tc>
                  <a:txBody>
                    <a:bodyPr/>
                    <a:lstStyle/>
                    <a:p>
                      <a:r>
                        <a:rPr sz="1650" b="0">
                          <a:solidFill>
                            <a:srgbClr val="15243B"/>
                          </a:solidFill>
                          <a:latin typeface="Arial"/>
                          <a:ea typeface="Arial"/>
                          <a:cs typeface="Arial"/>
                        </a:rPr>
                        <a:t>2.53%</a:t>
                      </a:r>
                    </a:p>
                  </a:txBody>
                  <a:tcPr marL="114300" marR="95250" marT="95250" marB="76200" anchor="ctr">
                    <a:solidFill>
                      <a:srgbClr val="FFFFFF"/>
                    </a:solidFill>
                  </a:tcPr>
                </a:tc>
                <a:tc>
                  <a:txBody>
                    <a:bodyPr/>
                    <a:lstStyle/>
                    <a:p>
                      <a:r>
                        <a:rPr sz="1650" b="0">
                          <a:solidFill>
                            <a:srgbClr val="15243B"/>
                          </a:solidFill>
                          <a:latin typeface="Arial"/>
                          <a:ea typeface="Arial"/>
                          <a:cs typeface="Arial"/>
                        </a:rPr>
                        <a:t>4.42%</a:t>
                      </a:r>
                    </a:p>
                  </a:txBody>
                  <a:tcPr marL="114300" marR="95250" marT="95250" marB="76200" anchor="ctr">
                    <a:solidFill>
                      <a:srgbClr val="FFFFFF"/>
                    </a:solidFill>
                  </a:tcPr>
                </a:tc>
                <a:tc>
                  <a:txBody>
                    <a:bodyPr/>
                    <a:lstStyle/>
                    <a:p>
                      <a:r>
                        <a:rPr sz="1650" b="0">
                          <a:solidFill>
                            <a:srgbClr val="15243B"/>
                          </a:solidFill>
                          <a:latin typeface="Arial"/>
                          <a:ea typeface="Arial"/>
                          <a:cs typeface="Arial"/>
                        </a:rPr>
                        <a:t>0 / 9</a:t>
                      </a:r>
                    </a:p>
                  </a:txBody>
                  <a:tcPr marL="114300" marR="95250" marT="95250" marB="76200" anchor="ctr">
                    <a:solidFill>
                      <a:srgbClr val="FFFFFF"/>
                    </a:solidFill>
                  </a:tcPr>
                </a:tc>
              </a:tr>
              <a:tr h="495300">
                <a:tc>
                  <a:txBody>
                    <a:bodyPr/>
                    <a:lstStyle/>
                    <a:p>
                      <a:r>
                        <a:rPr sz="1650" b="0">
                          <a:solidFill>
                            <a:srgbClr val="15243B"/>
                          </a:solidFill>
                          <a:latin typeface="Arial"/>
                          <a:ea typeface="Arial"/>
                          <a:cs typeface="Arial"/>
                        </a:rPr>
                        <a:t>2 / Direct</a:t>
                      </a:r>
                    </a:p>
                  </a:txBody>
                  <a:tcPr marL="114300" marR="95250" marT="95250" marB="76200" anchor="ctr">
                    <a:solidFill>
                      <a:srgbClr val="F1F5F9"/>
                    </a:solidFill>
                  </a:tcPr>
                </a:tc>
                <a:tc>
                  <a:txBody>
                    <a:bodyPr/>
                    <a:lstStyle/>
                    <a:p>
                      <a:r>
                        <a:rPr sz="1650" b="0">
                          <a:solidFill>
                            <a:srgbClr val="15243B"/>
                          </a:solidFill>
                          <a:latin typeface="Arial"/>
                          <a:ea typeface="Arial"/>
                          <a:cs typeface="Arial"/>
                        </a:rPr>
                        <a:t>99.63%</a:t>
                      </a:r>
                    </a:p>
                  </a:txBody>
                  <a:tcPr marL="114300" marR="95250" marT="95250" marB="76200" anchor="ctr">
                    <a:solidFill>
                      <a:srgbClr val="F1F5F9"/>
                    </a:solidFill>
                  </a:tcPr>
                </a:tc>
                <a:tc>
                  <a:txBody>
                    <a:bodyPr/>
                    <a:lstStyle/>
                    <a:p>
                      <a:r>
                        <a:rPr sz="1650" b="0">
                          <a:solidFill>
                            <a:srgbClr val="15243B"/>
                          </a:solidFill>
                          <a:latin typeface="Arial"/>
                          <a:ea typeface="Arial"/>
                          <a:cs typeface="Arial"/>
                        </a:rPr>
                        <a:t>85.78%</a:t>
                      </a:r>
                    </a:p>
                  </a:txBody>
                  <a:tcPr marL="114300" marR="95250" marT="95250" marB="76200" anchor="ctr">
                    <a:solidFill>
                      <a:srgbClr val="F1F5F9"/>
                    </a:solidFill>
                  </a:tcPr>
                </a:tc>
                <a:tc>
                  <a:txBody>
                    <a:bodyPr/>
                    <a:lstStyle/>
                    <a:p>
                      <a:r>
                        <a:rPr sz="1650" b="0">
                          <a:solidFill>
                            <a:srgbClr val="15243B"/>
                          </a:solidFill>
                          <a:latin typeface="Arial"/>
                          <a:ea typeface="Arial"/>
                          <a:cs typeface="Arial"/>
                        </a:rPr>
                        <a:t>5.31%</a:t>
                      </a:r>
                    </a:p>
                  </a:txBody>
                  <a:tcPr marL="114300" marR="95250" marT="95250" marB="76200" anchor="ctr">
                    <a:solidFill>
                      <a:srgbClr val="F1F5F9"/>
                    </a:solidFill>
                  </a:tcPr>
                </a:tc>
                <a:tc>
                  <a:txBody>
                    <a:bodyPr/>
                    <a:lstStyle/>
                    <a:p>
                      <a:r>
                        <a:rPr sz="1650" b="0">
                          <a:solidFill>
                            <a:srgbClr val="15243B"/>
                          </a:solidFill>
                          <a:latin typeface="Arial"/>
                          <a:ea typeface="Arial"/>
                          <a:cs typeface="Arial"/>
                        </a:rPr>
                        <a:t>7 / 1,913</a:t>
                      </a:r>
                    </a:p>
                  </a:txBody>
                  <a:tcPr marL="114300" marR="95250" marT="95250" marB="76200" anchor="ctr">
                    <a:solidFill>
                      <a:srgbClr val="F1F5F9"/>
                    </a:solidFill>
                  </a:tcPr>
                </a:tc>
              </a:tr>
              <a:tr h="495300">
                <a:tc>
                  <a:txBody>
                    <a:bodyPr/>
                    <a:lstStyle/>
                    <a:p>
                      <a:r>
                        <a:rPr sz="1650" b="0">
                          <a:solidFill>
                            <a:srgbClr val="15243B"/>
                          </a:solidFill>
                          <a:latin typeface="Arial"/>
                          <a:ea typeface="Arial"/>
                          <a:cs typeface="Arial"/>
                        </a:rPr>
                        <a:t>2 / Forecast score</a:t>
                      </a:r>
                    </a:p>
                  </a:txBody>
                  <a:tcPr marL="114300" marR="95250" marT="95250" marB="76200" anchor="ctr">
                    <a:solidFill>
                      <a:srgbClr val="FFFFFF"/>
                    </a:solidFill>
                  </a:tcPr>
                </a:tc>
                <a:tc>
                  <a:txBody>
                    <a:bodyPr/>
                    <a:lstStyle/>
                    <a:p>
                      <a:r>
                        <a:rPr sz="1650" b="0">
                          <a:solidFill>
                            <a:srgbClr val="15243B"/>
                          </a:solidFill>
                          <a:latin typeface="Arial"/>
                          <a:ea typeface="Arial"/>
                          <a:cs typeface="Arial"/>
                        </a:rPr>
                        <a:t>99.69%</a:t>
                      </a:r>
                    </a:p>
                  </a:txBody>
                  <a:tcPr marL="114300" marR="95250" marT="95250" marB="76200" anchor="ctr">
                    <a:solidFill>
                      <a:srgbClr val="FFFFFF"/>
                    </a:solidFill>
                  </a:tcPr>
                </a:tc>
                <a:tc>
                  <a:txBody>
                    <a:bodyPr/>
                    <a:lstStyle/>
                    <a:p>
                      <a:r>
                        <a:rPr sz="1650" b="0">
                          <a:solidFill>
                            <a:srgbClr val="15243B"/>
                          </a:solidFill>
                          <a:latin typeface="Arial"/>
                          <a:ea typeface="Arial"/>
                          <a:cs typeface="Arial"/>
                        </a:rPr>
                        <a:t>82.06%</a:t>
                      </a:r>
                    </a:p>
                  </a:txBody>
                  <a:tcPr marL="114300" marR="95250" marT="95250" marB="76200" anchor="ctr">
                    <a:solidFill>
                      <a:srgbClr val="FFFFFF"/>
                    </a:solidFill>
                  </a:tcPr>
                </a:tc>
                <a:tc>
                  <a:txBody>
                    <a:bodyPr/>
                    <a:lstStyle/>
                    <a:p>
                      <a:r>
                        <a:rPr sz="1650" b="0">
                          <a:solidFill>
                            <a:srgbClr val="15243B"/>
                          </a:solidFill>
                          <a:latin typeface="Arial"/>
                          <a:ea typeface="Arial"/>
                          <a:cs typeface="Arial"/>
                        </a:rPr>
                        <a:t>7.01%</a:t>
                      </a:r>
                    </a:p>
                  </a:txBody>
                  <a:tcPr marL="114300" marR="95250" marT="95250" marB="76200" anchor="ctr">
                    <a:solidFill>
                      <a:srgbClr val="FFFFFF"/>
                    </a:solidFill>
                  </a:tcPr>
                </a:tc>
                <a:tc>
                  <a:txBody>
                    <a:bodyPr/>
                    <a:lstStyle/>
                    <a:p>
                      <a:r>
                        <a:rPr sz="1650" b="0">
                          <a:solidFill>
                            <a:srgbClr val="15243B"/>
                          </a:solidFill>
                          <a:latin typeface="Arial"/>
                          <a:ea typeface="Arial"/>
                          <a:cs typeface="Arial"/>
                        </a:rPr>
                        <a:t>6 / 1,913</a:t>
                      </a:r>
                    </a:p>
                  </a:txBody>
                  <a:tcPr marL="114300" marR="95250" marT="95250" marB="76200" anchor="ctr">
                    <a:solidFill>
                      <a:srgbClr val="FFFFFF"/>
                    </a:solidFill>
                  </a:tcPr>
                </a:tc>
              </a:tr>
              <a:tr h="495300">
                <a:tc>
                  <a:txBody>
                    <a:bodyPr/>
                    <a:lstStyle/>
                    <a:p>
                      <a:r>
                        <a:rPr sz="1650" b="0">
                          <a:solidFill>
                            <a:srgbClr val="15243B"/>
                          </a:solidFill>
                          <a:latin typeface="Arial"/>
                          <a:ea typeface="Arial"/>
                          <a:cs typeface="Arial"/>
                        </a:rPr>
                        <a:t>3 / Placeholder</a:t>
                      </a:r>
                    </a:p>
                  </a:txBody>
                  <a:tcPr marL="114300" marR="95250" marT="95250" marB="76200" anchor="ctr">
                    <a:solidFill>
                      <a:srgbClr val="F1F5F9"/>
                    </a:solidFill>
                  </a:tcPr>
                </a:tc>
                <a:tc>
                  <a:txBody>
                    <a:bodyPr/>
                    <a:lstStyle/>
                    <a:p>
                      <a:r>
                        <a:rPr sz="1650" b="0">
                          <a:solidFill>
                            <a:srgbClr val="15243B"/>
                          </a:solidFill>
                          <a:latin typeface="Arial"/>
                          <a:ea typeface="Arial"/>
                          <a:cs typeface="Arial"/>
                        </a:rPr>
                        <a:t>Unavailable</a:t>
                      </a:r>
                    </a:p>
                  </a:txBody>
                  <a:tcPr marL="114300" marR="95250" marT="95250" marB="76200" anchor="ctr">
                    <a:solidFill>
                      <a:srgbClr val="F1F5F9"/>
                    </a:solidFill>
                  </a:tcPr>
                </a:tc>
                <a:tc>
                  <a:txBody>
                    <a:bodyPr/>
                    <a:lstStyle/>
                    <a:p>
                      <a:r>
                        <a:rPr sz="1650" b="0">
                          <a:solidFill>
                            <a:srgbClr val="15243B"/>
                          </a:solidFill>
                          <a:latin typeface="Arial"/>
                          <a:ea typeface="Arial"/>
                          <a:cs typeface="Arial"/>
                        </a:rPr>
                        <a:t>Unavailable</a:t>
                      </a:r>
                    </a:p>
                  </a:txBody>
                  <a:tcPr marL="114300" marR="95250" marT="95250" marB="76200" anchor="ctr">
                    <a:solidFill>
                      <a:srgbClr val="F1F5F9"/>
                    </a:solidFill>
                  </a:tcPr>
                </a:tc>
                <a:tc>
                  <a:txBody>
                    <a:bodyPr/>
                    <a:lstStyle/>
                    <a:p>
                      <a:r>
                        <a:rPr sz="1650" b="0">
                          <a:solidFill>
                            <a:srgbClr val="15243B"/>
                          </a:solidFill>
                          <a:latin typeface="Arial"/>
                          <a:ea typeface="Arial"/>
                          <a:cs typeface="Arial"/>
                        </a:rPr>
                        <a:t>0%</a:t>
                      </a:r>
                    </a:p>
                  </a:txBody>
                  <a:tcPr marL="114300" marR="95250" marT="95250" marB="76200" anchor="ctr">
                    <a:solidFill>
                      <a:srgbClr val="F1F5F9"/>
                    </a:solidFill>
                  </a:tcPr>
                </a:tc>
                <a:tc>
                  <a:txBody>
                    <a:bodyPr/>
                    <a:lstStyle/>
                    <a:p>
                      <a:r>
                        <a:rPr sz="1650" b="0">
                          <a:solidFill>
                            <a:srgbClr val="15243B"/>
                          </a:solidFill>
                          <a:latin typeface="Arial"/>
                          <a:ea typeface="Arial"/>
                          <a:cs typeface="Arial"/>
                        </a:rPr>
                        <a:t>No positives</a:t>
                      </a:r>
                    </a:p>
                  </a:txBody>
                  <a:tcPr marL="114300" marR="95250" marT="95250" marB="76200" anchor="ctr">
                    <a:solidFill>
                      <a:srgbClr val="F1F5F9"/>
                    </a:solidFill>
                  </a:tcPr>
                </a:tc>
              </a:tr>
            </a:tbl>
          </a:graphicData>
        </a:graphic>
      </p:graphicFrame>
      <p:sp>
        <p:nvSpPr>
          <p:cNvPr id="8" name="Zone 1: 210 false alarms despite pe">
            <a:extLst xmlns:a="http://schemas.openxmlformats.org/drawingml/2006/main">
              <a:ext uri="{FF2B5EF4-FFF2-40B4-BE49-F238E27FC236}">
                <a16:creationId xmlns:a16="http://schemas.microsoft.com/office/drawing/2014/main" id="{2C9808EC-8B8D-4827-801D-571115D6B60F}"/>
              </a:ext>
            </a:extLst>
          </p:cNvPr>
          <p:cNvSpPr>
            <a:spLocks xmlns:a="http://schemas.openxmlformats.org/drawingml/2006/main" noGrp="1"/>
          </p:cNvSpPr>
          <p:nvPr/>
        </p:nvSpPr>
        <p:spPr>
          <a:xfrm xmlns:a="http://schemas.openxmlformats.org/drawingml/2006/main">
            <a:off x="571500" y="52197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B45309"/>
                </a:solidFill>
                <a:latin typeface="Arial"/>
                <a:ea typeface="Arial"/>
                <a:cs typeface="Arial"/>
              </a:defRPr>
            </a:defPPr>
          </a:lstStyle>
          <a:p xmlns:a="http://schemas.openxmlformats.org/drawingml/2006/main">
            <a:pPr>
              <a:defRPr sz="1800" b="1">
                <a:solidFill>
                  <a:srgbClr val="B45309"/>
                </a:solidFill>
                <a:latin typeface="Arial"/>
                <a:ea typeface="Arial"/>
                <a:cs typeface="Arial"/>
              </a:defRPr>
            </a:pPr>
            <a:r>
              <a:rPr sz="1800" b="1">
                <a:solidFill>
                  <a:srgbClr val="B45309"/>
                </a:solidFill>
                <a:latin typeface="Arial"/>
                <a:ea typeface="Arial"/>
                <a:cs typeface="Arial"/>
              </a:rPr>
              <a:t>Zone 1: 210 false alarms despite perfect observed recall on only nine positive samples.</a:t>
            </a:r>
          </a:p>
        </p:txBody>
      </p:sp>
      <p:sp>
        <p:nvSpPr>
          <p:cNvPr id="9" name="Zone 3 has no positive validation o">
            <a:extLst xmlns:a="http://schemas.openxmlformats.org/drawingml/2006/main">
              <a:ext uri="{FF2B5EF4-FFF2-40B4-BE49-F238E27FC236}">
                <a16:creationId xmlns:a16="http://schemas.microsoft.com/office/drawing/2014/main" id="{2A77964D-71E9-49A3-AB9E-6D00DF04C573}"/>
              </a:ext>
            </a:extLst>
          </p:cNvPr>
          <p:cNvSpPr>
            <a:spLocks xmlns:a="http://schemas.openxmlformats.org/drawingml/2006/main" noGrp="1"/>
          </p:cNvSpPr>
          <p:nvPr/>
        </p:nvSpPr>
        <p:spPr>
          <a:xfrm xmlns:a="http://schemas.openxmlformats.org/drawingml/2006/main">
            <a:off x="571500" y="565785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536579"/>
                </a:solidFill>
                <a:latin typeface="Arial"/>
                <a:ea typeface="Arial"/>
                <a:cs typeface="Arial"/>
              </a:defRPr>
            </a:defPPr>
          </a:lstStyle>
          <a:p xmlns:a="http://schemas.openxmlformats.org/drawingml/2006/main">
            <a:pPr>
              <a:defRPr sz="1800" b="0">
                <a:solidFill>
                  <a:srgbClr val="536579"/>
                </a:solidFill>
                <a:latin typeface="Arial"/>
                <a:ea typeface="Arial"/>
                <a:cs typeface="Arial"/>
              </a:defRPr>
            </a:pPr>
            <a:r>
              <a:rPr sz="1800" b="0">
                <a:solidFill>
                  <a:srgbClr val="536579"/>
                </a:solidFill>
                <a:latin typeface="Arial"/>
                <a:ea typeface="Arial"/>
                <a:cs typeface="Arial"/>
              </a:rPr>
              <a:t>Zone 3 has no positive validation or test samples. Its alert remains unvalidated.</a:t>
            </a:r>
          </a:p>
        </p:txBody>
      </p:sp>
    </p:spTree>
    <p:extLst>
      <p:ext uri="{BB962C8B-B14F-4D97-AF65-F5344CB8AC3E}">
        <p14:creationId xmlns:p14="http://schemas.microsoft.com/office/powerpoint/2010/main" val="149862814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1DD1441-C003-4759-AE26-FF783BEC2CDC}"/>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563EB"/>
          </a:solidFill>
          <a:ln xmlns:a="http://schemas.openxmlformats.org/drawingml/2006/main" w="0">
            <a:noFill/>
          </a:ln>
        </p:spPr>
      </p:sp>
      <p:sp>
        <p:nvSpPr>
          <p:cNvPr id="2" name="Demand history matters much more th">
            <a:extLst xmlns:a="http://schemas.openxmlformats.org/drawingml/2006/main">
              <a:ext uri="{FF2B5EF4-FFF2-40B4-BE49-F238E27FC236}">
                <a16:creationId xmlns:a16="http://schemas.microsoft.com/office/drawing/2014/main" id="{81107C88-6676-4B50-B614-35EB81E2A411}"/>
              </a:ext>
            </a:extLst>
          </p:cNvPr>
          <p:cNvSpPr>
            <a:spLocks xmlns:a="http://schemas.openxmlformats.org/drawingml/2006/main" noGrp="1"/>
          </p:cNvSpPr>
          <p:nvPr/>
        </p:nvSpPr>
        <p:spPr>
          <a:xfrm xmlns:a="http://schemas.openxmlformats.org/drawingml/2006/main">
            <a:off x="552450" y="40005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5243B"/>
                </a:solidFill>
                <a:latin typeface="Arial"/>
                <a:ea typeface="Arial"/>
                <a:cs typeface="Arial"/>
              </a:defRPr>
            </a:defPPr>
          </a:lstStyle>
          <a:p xmlns:a="http://schemas.openxmlformats.org/drawingml/2006/main">
            <a:pPr>
              <a:defRPr sz="2850" b="1">
                <a:solidFill>
                  <a:srgbClr val="15243B"/>
                </a:solidFill>
                <a:latin typeface="Arial"/>
                <a:ea typeface="Arial"/>
                <a:cs typeface="Arial"/>
              </a:defRPr>
            </a:pPr>
            <a:r>
              <a:rPr sz="2850" b="1">
                <a:solidFill>
                  <a:srgbClr val="15243B"/>
                </a:solidFill>
                <a:latin typeface="Arial"/>
                <a:ea typeface="Arial"/>
                <a:cs typeface="Arial"/>
              </a:rPr>
              <a:t>Demand history matters much more than weather here</a:t>
            </a:r>
          </a:p>
        </p:txBody>
      </p:sp>
      <p:sp>
        <p:nvSpPr>
          <p:cNvPr id="3" name="Validation ablations keep the same ">
            <a:extLst xmlns:a="http://schemas.openxmlformats.org/drawingml/2006/main">
              <a:ext uri="{FF2B5EF4-FFF2-40B4-BE49-F238E27FC236}">
                <a16:creationId xmlns:a16="http://schemas.microsoft.com/office/drawing/2014/main" id="{0F5193C7-12F2-48B1-8A16-E672E3695623}"/>
              </a:ext>
            </a:extLst>
          </p:cNvPr>
          <p:cNvSpPr>
            <a:spLocks xmlns:a="http://schemas.openxmlformats.org/drawingml/2006/main" noGrp="1"/>
          </p:cNvSpPr>
          <p:nvPr/>
        </p:nvSpPr>
        <p:spPr>
          <a:xfrm xmlns:a="http://schemas.openxmlformats.org/drawingml/2006/main">
            <a:off x="571500" y="10668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579"/>
                </a:solidFill>
                <a:latin typeface="Arial"/>
                <a:ea typeface="Arial"/>
                <a:cs typeface="Arial"/>
              </a:defRPr>
            </a:defPPr>
          </a:lstStyle>
          <a:p xmlns:a="http://schemas.openxmlformats.org/drawingml/2006/main">
            <a:pPr>
              <a:defRPr sz="1575" b="0">
                <a:solidFill>
                  <a:srgbClr val="536579"/>
                </a:solidFill>
                <a:latin typeface="Arial"/>
                <a:ea typeface="Arial"/>
                <a:cs typeface="Arial"/>
              </a:defRPr>
            </a:pPr>
            <a:r>
              <a:rPr sz="1575" b="0">
                <a:solidFill>
                  <a:srgbClr val="536579"/>
                </a:solidFill>
                <a:latin typeface="Arial"/>
                <a:ea typeface="Arial"/>
                <a:cs typeface="Arial"/>
              </a:rPr>
              <a:t>Validation ablations keep the same samples and the selected linear configuration</a:t>
            </a:r>
          </a:p>
        </p:txBody>
      </p:sp>
      <p:sp>
        <p:nvSpPr>
          <p:cNvPr id="4" name="">
            <a:extLst xmlns:a="http://schemas.openxmlformats.org/drawingml/2006/main">
              <a:ext uri="{FF2B5EF4-FFF2-40B4-BE49-F238E27FC236}">
                <a16:creationId xmlns:a16="http://schemas.microsoft.com/office/drawing/2014/main" id="{C9D01EC0-1544-44AF-A8FE-9B9D781C8545}"/>
              </a:ext>
            </a:extLst>
          </p:cNvPr>
          <p:cNvSpPr>
            <a:spLocks xmlns:a="http://schemas.openxmlformats.org/drawingml/2006/main" noGrp="1"/>
          </p:cNvSpPr>
          <p:nvPr/>
        </p:nvSpPr>
        <p:spPr>
          <a:xfrm xmlns:a="http://schemas.openxmlformats.org/drawingml/2006/main">
            <a:off x="571500" y="6324600"/>
            <a:ext cx="11049000" cy="9525"/>
          </a:xfrm>
          <a:prstGeom xmlns:a="http://schemas.openxmlformats.org/drawingml/2006/main" prst="rect">
            <a:avLst/>
          </a:prstGeom>
          <a:solidFill xmlns:a="http://schemas.openxmlformats.org/drawingml/2006/main">
            <a:srgbClr val="DBE4EE"/>
          </a:solidFill>
          <a:ln xmlns:a="http://schemas.openxmlformats.org/drawingml/2006/main" w="0">
            <a:noFill/>
          </a:ln>
        </p:spPr>
      </p:sp>
      <p:sp>
        <p:nvSpPr>
          <p:cNvPr id="5" name="Tetouan GridWatch  /  Week 10 progr">
            <a:extLst xmlns:a="http://schemas.openxmlformats.org/drawingml/2006/main">
              <a:ext uri="{FF2B5EF4-FFF2-40B4-BE49-F238E27FC236}">
                <a16:creationId xmlns:a16="http://schemas.microsoft.com/office/drawing/2014/main" id="{213DAD68-F278-468B-94CC-0B22CF265C29}"/>
              </a:ext>
            </a:extLst>
          </p:cNvPr>
          <p:cNvSpPr>
            <a:spLocks xmlns:a="http://schemas.openxmlformats.org/drawingml/2006/main" noGrp="1"/>
          </p:cNvSpPr>
          <p:nvPr/>
        </p:nvSpPr>
        <p:spPr>
          <a:xfrm xmlns:a="http://schemas.openxmlformats.org/drawingml/2006/main">
            <a:off x="571500" y="647700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6579"/>
                </a:solidFill>
                <a:latin typeface="Arial"/>
                <a:ea typeface="Arial"/>
                <a:cs typeface="Arial"/>
              </a:defRPr>
            </a:defPPr>
          </a:lstStyle>
          <a:p xmlns:a="http://schemas.openxmlformats.org/drawingml/2006/main">
            <a:pPr>
              <a:defRPr sz="1125" b="0">
                <a:solidFill>
                  <a:srgbClr val="536579"/>
                </a:solidFill>
                <a:latin typeface="Arial"/>
                <a:ea typeface="Arial"/>
                <a:cs typeface="Arial"/>
              </a:defRPr>
            </a:pPr>
            <a:r>
              <a:rPr sz="1125" b="0">
                <a:solidFill>
                  <a:srgbClr val="536579"/>
                </a:solidFill>
                <a:latin typeface="Arial"/>
                <a:ea typeface="Arial"/>
                <a:cs typeface="Arial"/>
              </a:rPr>
              <a:t>Tetouan GridWatch  /  Week 10 progress  /  8 October 2026</a:t>
            </a:r>
          </a:p>
        </p:txBody>
      </p:sp>
      <p:sp>
        <p:nvSpPr>
          <p:cNvPr id="6" name="06">
            <a:extLst xmlns:a="http://schemas.openxmlformats.org/drawingml/2006/main">
              <a:ext uri="{FF2B5EF4-FFF2-40B4-BE49-F238E27FC236}">
                <a16:creationId xmlns:a16="http://schemas.microsoft.com/office/drawing/2014/main" id="{7D428DFB-791E-460F-9B8E-DF0C835825CF}"/>
              </a:ext>
            </a:extLst>
          </p:cNvPr>
          <p:cNvSpPr>
            <a:spLocks xmlns:a="http://schemas.openxmlformats.org/drawingml/2006/main" noGrp="1"/>
          </p:cNvSpPr>
          <p:nvPr/>
        </p:nvSpPr>
        <p:spPr>
          <a:xfrm xmlns:a="http://schemas.openxmlformats.org/drawingml/2006/main">
            <a:off x="11144250" y="64770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6579"/>
                </a:solidFill>
                <a:latin typeface="Arial"/>
                <a:ea typeface="Arial"/>
                <a:cs typeface="Arial"/>
              </a:defRPr>
            </a:defPPr>
          </a:lstStyle>
          <a:p xmlns:a="http://schemas.openxmlformats.org/drawingml/2006/main">
            <a:pPr>
              <a:defRPr sz="1125" b="0">
                <a:solidFill>
                  <a:srgbClr val="536579"/>
                </a:solidFill>
                <a:latin typeface="Arial"/>
                <a:ea typeface="Arial"/>
                <a:cs typeface="Arial"/>
              </a:defRPr>
            </a:pPr>
            <a:r>
              <a:rPr sz="1125" b="0">
                <a:solidFill>
                  <a:srgbClr val="536579"/>
                </a:solidFill>
                <a:latin typeface="Arial"/>
                <a:ea typeface="Arial"/>
                <a:cs typeface="Arial"/>
              </a:rPr>
              <a:t>06</a:t>
            </a:r>
          </a:p>
        </p:txBody>
      </p:sp>
      <p:graphicFrame>
        <p:nvGraphicFramePr>
          <p:cNvPr id="7" name="">
            <a:extLst xmlns:a="http://schemas.openxmlformats.org/drawingml/2006/main">
              <a:ext uri="{FF2B5EF4-FFF2-40B4-BE49-F238E27FC236}">
                <a16:creationId xmlns:a16="http://schemas.microsoft.com/office/drawing/2014/main" id="{9190930C-A4D5-4B43-971E-17A4C49512F1}"/>
              </a:ext>
            </a:extLst>
          </p:cNvPr>
          <p:cNvGraphicFramePr/>
          <p:nvPr/>
        </p:nvGraphicFramePr>
        <p:xfrm>
          <a:off xmlns:a="http://schemas.openxmlformats.org/drawingml/2006/main" x="571500" y="2076450"/>
          <a:ext xmlns:a="http://schemas.openxmlformats.org/drawingml/2006/main" cx="7239000" cy="2762250"/>
        </p:xfrm>
        <a:graphic xmlns:a="http://schemas.openxmlformats.org/drawingml/2006/main">
          <a:graphicData uri="http://schemas.openxmlformats.org/drawingml/2006/table">
            <a:tbl>
              <a:tblPr/>
              <a:tblGrid>
                <a:gridCol w="4381500"/>
                <a:gridCol w="2857500"/>
              </a:tblGrid>
              <a:tr h="690563">
                <a:tc>
                  <a:txBody>
                    <a:bodyPr/>
                    <a:lstStyle/>
                    <a:p>
                      <a:r>
                        <a:rPr sz="1650" b="1">
                          <a:solidFill>
                            <a:srgbClr val="FFFFFF"/>
                          </a:solidFill>
                          <a:latin typeface="Arial"/>
                          <a:ea typeface="Arial"/>
                          <a:cs typeface="Arial"/>
                        </a:rPr>
                        <a:t>Configuration</a:t>
                      </a:r>
                    </a:p>
                  </a:txBody>
                  <a:tcPr marL="114300" marR="95250" marT="95250" marB="76200" anchor="ctr">
                    <a:solidFill>
                      <a:srgbClr val="15243B"/>
                    </a:solidFill>
                  </a:tcPr>
                </a:tc>
                <a:tc>
                  <a:txBody>
                    <a:bodyPr/>
                    <a:lstStyle/>
                    <a:p>
                      <a:r>
                        <a:rPr sz="1650" b="1">
                          <a:solidFill>
                            <a:srgbClr val="FFFFFF"/>
                          </a:solidFill>
                          <a:latin typeface="Arial"/>
                          <a:ea typeface="Arial"/>
                          <a:cs typeface="Arial"/>
                        </a:rPr>
                        <a:t>Average validation MAE</a:t>
                      </a:r>
                    </a:p>
                  </a:txBody>
                  <a:tcPr marL="114300" marR="95250" marT="95250" marB="76200" anchor="ctr">
                    <a:solidFill>
                      <a:srgbClr val="15243B"/>
                    </a:solidFill>
                  </a:tcPr>
                </a:tc>
              </a:tr>
              <a:tr h="690563">
                <a:tc>
                  <a:txBody>
                    <a:bodyPr/>
                    <a:lstStyle/>
                    <a:p>
                      <a:r>
                        <a:rPr sz="1650" b="0">
                          <a:solidFill>
                            <a:srgbClr val="15243B"/>
                          </a:solidFill>
                          <a:latin typeface="Arial"/>
                          <a:ea typeface="Arial"/>
                          <a:cs typeface="Arial"/>
                        </a:rPr>
                        <a:t>Full selected model</a:t>
                      </a:r>
                    </a:p>
                  </a:txBody>
                  <a:tcPr marL="114300" marR="95250" marT="95250" marB="76200" anchor="ctr">
                    <a:solidFill>
                      <a:srgbClr val="F1F5F9"/>
                    </a:solidFill>
                  </a:tcPr>
                </a:tc>
                <a:tc>
                  <a:txBody>
                    <a:bodyPr/>
                    <a:lstStyle/>
                    <a:p>
                      <a:r>
                        <a:rPr sz="1650" b="0">
                          <a:solidFill>
                            <a:srgbClr val="15243B"/>
                          </a:solidFill>
                          <a:latin typeface="Arial"/>
                          <a:ea typeface="Arial"/>
                          <a:cs typeface="Arial"/>
                        </a:rPr>
                        <a:t>318.99</a:t>
                      </a:r>
                    </a:p>
                  </a:txBody>
                  <a:tcPr marL="114300" marR="95250" marT="95250" marB="76200" anchor="ctr">
                    <a:solidFill>
                      <a:srgbClr val="F1F5F9"/>
                    </a:solidFill>
                  </a:tcPr>
                </a:tc>
              </a:tr>
              <a:tr h="690563">
                <a:tc>
                  <a:txBody>
                    <a:bodyPr/>
                    <a:lstStyle/>
                    <a:p>
                      <a:r>
                        <a:rPr sz="1650" b="0">
                          <a:solidFill>
                            <a:srgbClr val="15243B"/>
                          </a:solidFill>
                          <a:latin typeface="Arial"/>
                          <a:ea typeface="Arial"/>
                          <a:cs typeface="Arial"/>
                        </a:rPr>
                        <a:t>Without weather</a:t>
                      </a:r>
                    </a:p>
                  </a:txBody>
                  <a:tcPr marL="114300" marR="95250" marT="95250" marB="76200" anchor="ctr">
                    <a:solidFill>
                      <a:srgbClr val="FFFFFF"/>
                    </a:solidFill>
                  </a:tcPr>
                </a:tc>
                <a:tc>
                  <a:txBody>
                    <a:bodyPr/>
                    <a:lstStyle/>
                    <a:p>
                      <a:r>
                        <a:rPr sz="1650" b="0">
                          <a:solidFill>
                            <a:srgbClr val="15243B"/>
                          </a:solidFill>
                          <a:latin typeface="Arial"/>
                          <a:ea typeface="Arial"/>
                          <a:cs typeface="Arial"/>
                        </a:rPr>
                        <a:t>318.88</a:t>
                      </a:r>
                    </a:p>
                  </a:txBody>
                  <a:tcPr marL="114300" marR="95250" marT="95250" marB="76200" anchor="ctr">
                    <a:solidFill>
                      <a:srgbClr val="FFFFFF"/>
                    </a:solidFill>
                  </a:tcPr>
                </a:tc>
              </a:tr>
              <a:tr h="690563">
                <a:tc>
                  <a:txBody>
                    <a:bodyPr/>
                    <a:lstStyle/>
                    <a:p>
                      <a:r>
                        <a:rPr sz="1650" b="0">
                          <a:solidFill>
                            <a:srgbClr val="15243B"/>
                          </a:solidFill>
                          <a:latin typeface="Arial"/>
                          <a:ea typeface="Arial"/>
                          <a:cs typeface="Arial"/>
                        </a:rPr>
                        <a:t>Without demand history</a:t>
                      </a:r>
                    </a:p>
                  </a:txBody>
                  <a:tcPr marL="114300" marR="95250" marT="95250" marB="76200" anchor="ctr">
                    <a:solidFill>
                      <a:srgbClr val="F1F5F9"/>
                    </a:solidFill>
                  </a:tcPr>
                </a:tc>
                <a:tc>
                  <a:txBody>
                    <a:bodyPr/>
                    <a:lstStyle/>
                    <a:p>
                      <a:r>
                        <a:rPr sz="1650" b="0">
                          <a:solidFill>
                            <a:srgbClr val="15243B"/>
                          </a:solidFill>
                          <a:latin typeface="Arial"/>
                          <a:ea typeface="Arial"/>
                          <a:cs typeface="Arial"/>
                        </a:rPr>
                        <a:t>4,881.07</a:t>
                      </a:r>
                    </a:p>
                  </a:txBody>
                  <a:tcPr marL="114300" marR="95250" marT="95250" marB="76200" anchor="ctr">
                    <a:solidFill>
                      <a:srgbClr val="F1F5F9"/>
                    </a:solidFill>
                  </a:tcPr>
                </a:tc>
              </a:tr>
            </a:tbl>
          </a:graphicData>
        </a:graphic>
      </p:graphicFrame>
      <p:sp>
        <p:nvSpPr>
          <p:cNvPr id="8" name="What we learned">
            <a:extLst xmlns:a="http://schemas.openxmlformats.org/drawingml/2006/main">
              <a:ext uri="{FF2B5EF4-FFF2-40B4-BE49-F238E27FC236}">
                <a16:creationId xmlns:a16="http://schemas.microsoft.com/office/drawing/2014/main" id="{498BFD4D-A646-4EA4-B09C-F96316701F12}"/>
              </a:ext>
            </a:extLst>
          </p:cNvPr>
          <p:cNvSpPr>
            <a:spLocks xmlns:a="http://schemas.openxmlformats.org/drawingml/2006/main" noGrp="1"/>
          </p:cNvSpPr>
          <p:nvPr/>
        </p:nvSpPr>
        <p:spPr>
          <a:xfrm xmlns:a="http://schemas.openxmlformats.org/drawingml/2006/main">
            <a:off x="8267700" y="2076450"/>
            <a:ext cx="323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100" b="1">
                <a:solidFill>
                  <a:srgbClr val="2563EB"/>
                </a:solidFill>
                <a:latin typeface="Arial"/>
                <a:ea typeface="Arial"/>
                <a:cs typeface="Arial"/>
              </a:defRPr>
            </a:defPPr>
          </a:lstStyle>
          <a:p xmlns:a="http://schemas.openxmlformats.org/drawingml/2006/main">
            <a:pPr>
              <a:defRPr sz="2100" b="1">
                <a:solidFill>
                  <a:srgbClr val="2563EB"/>
                </a:solidFill>
                <a:latin typeface="Arial"/>
                <a:ea typeface="Arial"/>
                <a:cs typeface="Arial"/>
              </a:defRPr>
            </a:pPr>
            <a:r>
              <a:rPr sz="2100" b="1">
                <a:solidFill>
                  <a:srgbClr val="2563EB"/>
                </a:solidFill>
                <a:latin typeface="Arial"/>
                <a:ea typeface="Arial"/>
                <a:cs typeface="Arial"/>
              </a:rPr>
              <a:t>What we learned</a:t>
            </a:r>
          </a:p>
        </p:txBody>
      </p:sp>
      <p:sp>
        <p:nvSpPr>
          <p:cNvPr id="9" name="History carries most of&#10;the short-h">
            <a:extLst xmlns:a="http://schemas.openxmlformats.org/drawingml/2006/main">
              <a:ext uri="{FF2B5EF4-FFF2-40B4-BE49-F238E27FC236}">
                <a16:creationId xmlns:a16="http://schemas.microsoft.com/office/drawing/2014/main" id="{8426B9A0-981E-4AC6-ADE9-E8640EAB8FF0}"/>
              </a:ext>
            </a:extLst>
          </p:cNvPr>
          <p:cNvSpPr>
            <a:spLocks xmlns:a="http://schemas.openxmlformats.org/drawingml/2006/main" noGrp="1"/>
          </p:cNvSpPr>
          <p:nvPr/>
        </p:nvSpPr>
        <p:spPr>
          <a:xfrm xmlns:a="http://schemas.openxmlformats.org/drawingml/2006/main">
            <a:off x="8267700" y="2762250"/>
            <a:ext cx="323850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15243B"/>
                </a:solidFill>
                <a:latin typeface="Arial"/>
                <a:ea typeface="Arial"/>
                <a:cs typeface="Arial"/>
              </a:defRPr>
            </a:defPPr>
          </a:lstStyle>
          <a:p xmlns:a="http://schemas.openxmlformats.org/drawingml/2006/main">
            <a:pPr>
              <a:defRPr sz="1950" b="0">
                <a:solidFill>
                  <a:srgbClr val="15243B"/>
                </a:solidFill>
                <a:latin typeface="Arial"/>
                <a:ea typeface="Arial"/>
                <a:cs typeface="Arial"/>
              </a:defRPr>
            </a:pPr>
            <a:r>
              <a:rPr sz="1950" b="0">
                <a:solidFill>
                  <a:srgbClr val="15243B"/>
                </a:solidFill>
                <a:latin typeface="Arial"/>
                <a:ea typeface="Arial"/>
                <a:cs typeface="Arial"/>
              </a:rPr>
              <a:t>History carries most of</a:t>
            </a:r>
          </a:p>
          <a:p xmlns:a="http://schemas.openxmlformats.org/drawingml/2006/main">
            <a:pPr>
              <a:defRPr sz="1950" b="0">
                <a:solidFill>
                  <a:srgbClr val="15243B"/>
                </a:solidFill>
                <a:latin typeface="Arial"/>
                <a:ea typeface="Arial"/>
                <a:cs typeface="Arial"/>
              </a:defRPr>
            </a:pPr>
            <a:r>
              <a:rPr sz="1950" b="0">
                <a:solidFill>
                  <a:srgbClr val="15243B"/>
                </a:solidFill>
                <a:latin typeface="Arial"/>
                <a:ea typeface="Arial"/>
                <a:cs typeface="Arial"/>
              </a:rPr>
              <a:t>the short-horizon signal.</a:t>
            </a:r>
          </a:p>
          <a:p xmlns:a="http://schemas.openxmlformats.org/drawingml/2006/main">
            <a:r>
              <a:t/>
            </a:r>
          </a:p>
          <a:p xmlns:a="http://schemas.openxmlformats.org/drawingml/2006/main">
            <a:pPr>
              <a:defRPr sz="1950" b="0">
                <a:solidFill>
                  <a:srgbClr val="15243B"/>
                </a:solidFill>
                <a:latin typeface="Arial"/>
                <a:ea typeface="Arial"/>
                <a:cs typeface="Arial"/>
              </a:defRPr>
            </a:pPr>
            <a:r>
              <a:rPr sz="1950" b="0">
                <a:solidFill>
                  <a:srgbClr val="15243B"/>
                </a:solidFill>
                <a:latin typeface="Arial"/>
                <a:ea typeface="Arial"/>
                <a:cs typeface="Arial"/>
              </a:rPr>
              <a:t>Weather has no clear</a:t>
            </a:r>
          </a:p>
          <a:p xmlns:a="http://schemas.openxmlformats.org/drawingml/2006/main">
            <a:pPr>
              <a:defRPr sz="1950" b="0">
                <a:solidFill>
                  <a:srgbClr val="15243B"/>
                </a:solidFill>
                <a:latin typeface="Arial"/>
                <a:ea typeface="Arial"/>
                <a:cs typeface="Arial"/>
              </a:defRPr>
            </a:pPr>
            <a:r>
              <a:rPr sz="1950" b="0">
                <a:solidFill>
                  <a:srgbClr val="15243B"/>
                </a:solidFill>
                <a:latin typeface="Arial"/>
                <a:ea typeface="Arial"/>
                <a:cs typeface="Arial"/>
              </a:rPr>
              <a:t>benefit in this initial test.</a:t>
            </a:r>
          </a:p>
        </p:txBody>
      </p:sp>
      <p:sp>
        <p:nvSpPr>
          <p:cNvPr id="10" name="Ablations do not retrospectively ch">
            <a:extLst xmlns:a="http://schemas.openxmlformats.org/drawingml/2006/main">
              <a:ext uri="{FF2B5EF4-FFF2-40B4-BE49-F238E27FC236}">
                <a16:creationId xmlns:a16="http://schemas.microsoft.com/office/drawing/2014/main" id="{E161C118-F690-43FC-8D34-2523F2079915}"/>
              </a:ext>
            </a:extLst>
          </p:cNvPr>
          <p:cNvSpPr>
            <a:spLocks xmlns:a="http://schemas.openxmlformats.org/drawingml/2006/main" noGrp="1"/>
          </p:cNvSpPr>
          <p:nvPr/>
        </p:nvSpPr>
        <p:spPr>
          <a:xfrm xmlns:a="http://schemas.openxmlformats.org/drawingml/2006/main">
            <a:off x="571500" y="54673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536579"/>
                </a:solidFill>
                <a:latin typeface="Arial"/>
                <a:ea typeface="Arial"/>
                <a:cs typeface="Arial"/>
              </a:defRPr>
            </a:defPPr>
          </a:lstStyle>
          <a:p xmlns:a="http://schemas.openxmlformats.org/drawingml/2006/main">
            <a:pPr>
              <a:defRPr sz="1950" b="0">
                <a:solidFill>
                  <a:srgbClr val="536579"/>
                </a:solidFill>
                <a:latin typeface="Arial"/>
                <a:ea typeface="Arial"/>
                <a:cs typeface="Arial"/>
              </a:defRPr>
            </a:pPr>
            <a:r>
              <a:rPr sz="1950" b="0">
                <a:solidFill>
                  <a:srgbClr val="536579"/>
                </a:solidFill>
                <a:latin typeface="Arial"/>
                <a:ea typeface="Arial"/>
                <a:cs typeface="Arial"/>
              </a:rPr>
              <a:t>Ablations do not retrospectively change the already-frozen test model.</a:t>
            </a:r>
          </a:p>
        </p:txBody>
      </p:sp>
    </p:spTree>
    <p:extLst>
      <p:ext uri="{BB962C8B-B14F-4D97-AF65-F5344CB8AC3E}">
        <p14:creationId xmlns:p14="http://schemas.microsoft.com/office/powerpoint/2010/main" val="69495747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03BFB44-2051-41AE-B570-0A56856DD3E5}"/>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2563EB"/>
          </a:solidFill>
          <a:ln xmlns:a="http://schemas.openxmlformats.org/drawingml/2006/main" w="0">
            <a:noFill/>
          </a:ln>
        </p:spPr>
      </p:sp>
      <p:sp>
        <p:nvSpPr>
          <p:cNvPr id="2" name="The final contribution will need co">
            <a:extLst xmlns:a="http://schemas.openxmlformats.org/drawingml/2006/main">
              <a:ext uri="{FF2B5EF4-FFF2-40B4-BE49-F238E27FC236}">
                <a16:creationId xmlns:a16="http://schemas.microsoft.com/office/drawing/2014/main" id="{6322C4FD-6CFF-4BEA-B737-2DD597A8FCD9}"/>
              </a:ext>
            </a:extLst>
          </p:cNvPr>
          <p:cNvSpPr>
            <a:spLocks xmlns:a="http://schemas.openxmlformats.org/drawingml/2006/main" noGrp="1"/>
          </p:cNvSpPr>
          <p:nvPr/>
        </p:nvSpPr>
        <p:spPr>
          <a:xfrm xmlns:a="http://schemas.openxmlformats.org/drawingml/2006/main">
            <a:off x="552450" y="400050"/>
            <a:ext cx="11087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850" b="1">
                <a:solidFill>
                  <a:srgbClr val="15243B"/>
                </a:solidFill>
                <a:latin typeface="Arial"/>
                <a:ea typeface="Arial"/>
                <a:cs typeface="Arial"/>
              </a:defRPr>
            </a:defPPr>
          </a:lstStyle>
          <a:p xmlns:a="http://schemas.openxmlformats.org/drawingml/2006/main">
            <a:pPr>
              <a:defRPr sz="2850" b="1">
                <a:solidFill>
                  <a:srgbClr val="15243B"/>
                </a:solidFill>
                <a:latin typeface="Arial"/>
                <a:ea typeface="Arial"/>
                <a:cs typeface="Arial"/>
              </a:defRPr>
            </a:pPr>
            <a:r>
              <a:rPr sz="2850" b="1">
                <a:solidFill>
                  <a:srgbClr val="15243B"/>
                </a:solidFill>
                <a:latin typeface="Arial"/>
                <a:ea typeface="Arial"/>
                <a:cs typeface="Arial"/>
              </a:rPr>
              <a:t>The final contribution will need controlled evidence</a:t>
            </a:r>
          </a:p>
        </p:txBody>
      </p:sp>
      <p:sp>
        <p:nvSpPr>
          <p:cNvPr id="3" name="Two proposed directions, with later">
            <a:extLst xmlns:a="http://schemas.openxmlformats.org/drawingml/2006/main">
              <a:ext uri="{FF2B5EF4-FFF2-40B4-BE49-F238E27FC236}">
                <a16:creationId xmlns:a16="http://schemas.microsoft.com/office/drawing/2014/main" id="{80ADD5B1-BCE2-4724-ACBB-9538D043AB36}"/>
              </a:ext>
            </a:extLst>
          </p:cNvPr>
          <p:cNvSpPr>
            <a:spLocks xmlns:a="http://schemas.openxmlformats.org/drawingml/2006/main" noGrp="1"/>
          </p:cNvSpPr>
          <p:nvPr/>
        </p:nvSpPr>
        <p:spPr>
          <a:xfrm xmlns:a="http://schemas.openxmlformats.org/drawingml/2006/main">
            <a:off x="571500" y="106680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b="0">
                <a:solidFill>
                  <a:srgbClr val="536579"/>
                </a:solidFill>
                <a:latin typeface="Arial"/>
                <a:ea typeface="Arial"/>
                <a:cs typeface="Arial"/>
              </a:defRPr>
            </a:defPPr>
          </a:lstStyle>
          <a:p xmlns:a="http://schemas.openxmlformats.org/drawingml/2006/main">
            <a:pPr>
              <a:defRPr sz="1575" b="0">
                <a:solidFill>
                  <a:srgbClr val="536579"/>
                </a:solidFill>
                <a:latin typeface="Arial"/>
                <a:ea typeface="Arial"/>
                <a:cs typeface="Arial"/>
              </a:defRPr>
            </a:pPr>
            <a:r>
              <a:rPr sz="1575" b="0">
                <a:solidFill>
                  <a:srgbClr val="536579"/>
                </a:solidFill>
                <a:latin typeface="Arial"/>
                <a:ea typeface="Arial"/>
                <a:cs typeface="Arial"/>
              </a:rPr>
              <a:t>Two proposed directions, with later chapters ready for integration</a:t>
            </a:r>
          </a:p>
        </p:txBody>
      </p:sp>
      <p:sp>
        <p:nvSpPr>
          <p:cNvPr id="4" name="">
            <a:extLst xmlns:a="http://schemas.openxmlformats.org/drawingml/2006/main">
              <a:ext uri="{FF2B5EF4-FFF2-40B4-BE49-F238E27FC236}">
                <a16:creationId xmlns:a16="http://schemas.microsoft.com/office/drawing/2014/main" id="{C483F3B7-DEF2-406F-A9F5-615D1236D43A}"/>
              </a:ext>
            </a:extLst>
          </p:cNvPr>
          <p:cNvSpPr>
            <a:spLocks xmlns:a="http://schemas.openxmlformats.org/drawingml/2006/main" noGrp="1"/>
          </p:cNvSpPr>
          <p:nvPr/>
        </p:nvSpPr>
        <p:spPr>
          <a:xfrm xmlns:a="http://schemas.openxmlformats.org/drawingml/2006/main">
            <a:off x="571500" y="6324600"/>
            <a:ext cx="11049000" cy="9525"/>
          </a:xfrm>
          <a:prstGeom xmlns:a="http://schemas.openxmlformats.org/drawingml/2006/main" prst="rect">
            <a:avLst/>
          </a:prstGeom>
          <a:solidFill xmlns:a="http://schemas.openxmlformats.org/drawingml/2006/main">
            <a:srgbClr val="DBE4EE"/>
          </a:solidFill>
          <a:ln xmlns:a="http://schemas.openxmlformats.org/drawingml/2006/main" w="0">
            <a:noFill/>
          </a:ln>
        </p:spPr>
      </p:sp>
      <p:sp>
        <p:nvSpPr>
          <p:cNvPr id="5" name="Tetouan GridWatch  /  Week 10 progr">
            <a:extLst xmlns:a="http://schemas.openxmlformats.org/drawingml/2006/main">
              <a:ext uri="{FF2B5EF4-FFF2-40B4-BE49-F238E27FC236}">
                <a16:creationId xmlns:a16="http://schemas.microsoft.com/office/drawing/2014/main" id="{B66E26EC-D07B-4729-8AD2-1353032100B2}"/>
              </a:ext>
            </a:extLst>
          </p:cNvPr>
          <p:cNvSpPr>
            <a:spLocks xmlns:a="http://schemas.openxmlformats.org/drawingml/2006/main" noGrp="1"/>
          </p:cNvSpPr>
          <p:nvPr/>
        </p:nvSpPr>
        <p:spPr>
          <a:xfrm xmlns:a="http://schemas.openxmlformats.org/drawingml/2006/main">
            <a:off x="571500" y="6477000"/>
            <a:ext cx="9906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6579"/>
                </a:solidFill>
                <a:latin typeface="Arial"/>
                <a:ea typeface="Arial"/>
                <a:cs typeface="Arial"/>
              </a:defRPr>
            </a:defPPr>
          </a:lstStyle>
          <a:p xmlns:a="http://schemas.openxmlformats.org/drawingml/2006/main">
            <a:pPr>
              <a:defRPr sz="1125" b="0">
                <a:solidFill>
                  <a:srgbClr val="536579"/>
                </a:solidFill>
                <a:latin typeface="Arial"/>
                <a:ea typeface="Arial"/>
                <a:cs typeface="Arial"/>
              </a:defRPr>
            </a:pPr>
            <a:r>
              <a:rPr sz="1125" b="0">
                <a:solidFill>
                  <a:srgbClr val="536579"/>
                </a:solidFill>
                <a:latin typeface="Arial"/>
                <a:ea typeface="Arial"/>
                <a:cs typeface="Arial"/>
              </a:rPr>
              <a:t>Tetouan GridWatch  /  Week 10 progress  /  8 October 2026</a:t>
            </a:r>
          </a:p>
        </p:txBody>
      </p:sp>
      <p:sp>
        <p:nvSpPr>
          <p:cNvPr id="6" name="07">
            <a:extLst xmlns:a="http://schemas.openxmlformats.org/drawingml/2006/main">
              <a:ext uri="{FF2B5EF4-FFF2-40B4-BE49-F238E27FC236}">
                <a16:creationId xmlns:a16="http://schemas.microsoft.com/office/drawing/2014/main" id="{A5C0F0ED-4692-40A3-BB6B-2399BE8FCBE4}"/>
              </a:ext>
            </a:extLst>
          </p:cNvPr>
          <p:cNvSpPr>
            <a:spLocks xmlns:a="http://schemas.openxmlformats.org/drawingml/2006/main" noGrp="1"/>
          </p:cNvSpPr>
          <p:nvPr/>
        </p:nvSpPr>
        <p:spPr>
          <a:xfrm xmlns:a="http://schemas.openxmlformats.org/drawingml/2006/main">
            <a:off x="11144250" y="6477000"/>
            <a:ext cx="47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36579"/>
                </a:solidFill>
                <a:latin typeface="Arial"/>
                <a:ea typeface="Arial"/>
                <a:cs typeface="Arial"/>
              </a:defRPr>
            </a:defPPr>
          </a:lstStyle>
          <a:p xmlns:a="http://schemas.openxmlformats.org/drawingml/2006/main">
            <a:pPr>
              <a:defRPr sz="1125" b="0">
                <a:solidFill>
                  <a:srgbClr val="536579"/>
                </a:solidFill>
                <a:latin typeface="Arial"/>
                <a:ea typeface="Arial"/>
                <a:cs typeface="Arial"/>
              </a:defRPr>
            </a:pPr>
            <a:r>
              <a:rPr sz="1125" b="0">
                <a:solidFill>
                  <a:srgbClr val="536579"/>
                </a:solidFill>
                <a:latin typeface="Arial"/>
                <a:ea typeface="Arial"/>
                <a:cs typeface="Arial"/>
              </a:rPr>
              <a:t>07</a:t>
            </a:r>
          </a:p>
        </p:txBody>
      </p:sp>
      <p:sp>
        <p:nvSpPr>
          <p:cNvPr id="7" name="01  Alerts that adapt to usage patt">
            <a:extLst xmlns:a="http://schemas.openxmlformats.org/drawingml/2006/main">
              <a:ext uri="{FF2B5EF4-FFF2-40B4-BE49-F238E27FC236}">
                <a16:creationId xmlns:a16="http://schemas.microsoft.com/office/drawing/2014/main" id="{1DBC8E78-DE88-4585-A433-4C901FD06674}"/>
              </a:ext>
            </a:extLst>
          </p:cNvPr>
          <p:cNvSpPr>
            <a:spLocks xmlns:a="http://schemas.openxmlformats.org/drawingml/2006/main" noGrp="1"/>
          </p:cNvSpPr>
          <p:nvPr/>
        </p:nvSpPr>
        <p:spPr>
          <a:xfrm xmlns:a="http://schemas.openxmlformats.org/drawingml/2006/main">
            <a:off x="571500" y="1924050"/>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2563EB"/>
                </a:solidFill>
                <a:latin typeface="Arial"/>
                <a:ea typeface="Arial"/>
                <a:cs typeface="Arial"/>
              </a:defRPr>
            </a:defPPr>
          </a:lstStyle>
          <a:p xmlns:a="http://schemas.openxmlformats.org/drawingml/2006/main">
            <a:pPr>
              <a:defRPr sz="2400" b="1">
                <a:solidFill>
                  <a:srgbClr val="2563EB"/>
                </a:solidFill>
                <a:latin typeface="Arial"/>
                <a:ea typeface="Arial"/>
                <a:cs typeface="Arial"/>
              </a:defRPr>
            </a:pPr>
            <a:r>
              <a:rPr sz="2400" b="1">
                <a:solidFill>
                  <a:srgbClr val="2563EB"/>
                </a:solidFill>
                <a:latin typeface="Arial"/>
                <a:ea typeface="Arial"/>
                <a:cs typeface="Arial"/>
              </a:rPr>
              <a:t>01  Alerts that adapt to usage patterns</a:t>
            </a:r>
          </a:p>
        </p:txBody>
      </p:sp>
      <p:sp>
        <p:nvSpPr>
          <p:cNvPr id="8" name="Compare direct alerts with forecast">
            <a:extLst xmlns:a="http://schemas.openxmlformats.org/drawingml/2006/main">
              <a:ext uri="{FF2B5EF4-FFF2-40B4-BE49-F238E27FC236}">
                <a16:creationId xmlns:a16="http://schemas.microsoft.com/office/drawing/2014/main" id="{2A4A7DD8-C78F-4757-B335-5B4194D80249}"/>
              </a:ext>
            </a:extLst>
          </p:cNvPr>
          <p:cNvSpPr>
            <a:spLocks xmlns:a="http://schemas.openxmlformats.org/drawingml/2006/main" noGrp="1"/>
          </p:cNvSpPr>
          <p:nvPr/>
        </p:nvSpPr>
        <p:spPr>
          <a:xfrm xmlns:a="http://schemas.openxmlformats.org/drawingml/2006/main">
            <a:off x="571500" y="2495550"/>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5243B"/>
                </a:solidFill>
                <a:latin typeface="Arial"/>
                <a:ea typeface="Arial"/>
                <a:cs typeface="Arial"/>
              </a:defRPr>
            </a:defPPr>
          </a:lstStyle>
          <a:p xmlns:a="http://schemas.openxmlformats.org/drawingml/2006/main">
            <a:pPr>
              <a:defRPr sz="1875" b="0">
                <a:solidFill>
                  <a:srgbClr val="15243B"/>
                </a:solidFill>
                <a:latin typeface="Arial"/>
                <a:ea typeface="Arial"/>
                <a:cs typeface="Arial"/>
              </a:defRPr>
            </a:pPr>
            <a:r>
              <a:rPr sz="1875" b="0">
                <a:solidFill>
                  <a:srgbClr val="15243B"/>
                </a:solidFill>
                <a:latin typeface="Arial"/>
                <a:ea typeface="Arial"/>
                <a:cs typeface="Arial"/>
              </a:rPr>
              <a:t>Compare direct alerts with forecast scores, then test past-only regime specialists.</a:t>
            </a:r>
          </a:p>
        </p:txBody>
      </p:sp>
      <p:sp>
        <p:nvSpPr>
          <p:cNvPr id="9" name="02  Quality checks with a fallback ">
            <a:extLst xmlns:a="http://schemas.openxmlformats.org/drawingml/2006/main">
              <a:ext uri="{FF2B5EF4-FFF2-40B4-BE49-F238E27FC236}">
                <a16:creationId xmlns:a16="http://schemas.microsoft.com/office/drawing/2014/main" id="{00A4A37B-E511-4FFE-B651-DF3DD391CE09}"/>
              </a:ext>
            </a:extLst>
          </p:cNvPr>
          <p:cNvSpPr>
            <a:spLocks xmlns:a="http://schemas.openxmlformats.org/drawingml/2006/main" noGrp="1"/>
          </p:cNvSpPr>
          <p:nvPr/>
        </p:nvSpPr>
        <p:spPr>
          <a:xfrm xmlns:a="http://schemas.openxmlformats.org/drawingml/2006/main">
            <a:off x="571500" y="332422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400" b="1">
                <a:solidFill>
                  <a:srgbClr val="2563EB"/>
                </a:solidFill>
                <a:latin typeface="Arial"/>
                <a:ea typeface="Arial"/>
                <a:cs typeface="Arial"/>
              </a:defRPr>
            </a:defPPr>
          </a:lstStyle>
          <a:p xmlns:a="http://schemas.openxmlformats.org/drawingml/2006/main">
            <a:pPr>
              <a:defRPr sz="2400" b="1">
                <a:solidFill>
                  <a:srgbClr val="2563EB"/>
                </a:solidFill>
                <a:latin typeface="Arial"/>
                <a:ea typeface="Arial"/>
                <a:cs typeface="Arial"/>
              </a:defRPr>
            </a:pPr>
            <a:r>
              <a:rPr sz="2400" b="1">
                <a:solidFill>
                  <a:srgbClr val="2563EB"/>
                </a:solidFill>
                <a:latin typeface="Arial"/>
                <a:ea typeface="Arial"/>
                <a:cs typeface="Arial"/>
              </a:rPr>
              <a:t>02  Quality checks with a fallback forecast</a:t>
            </a:r>
          </a:p>
        </p:txBody>
      </p:sp>
      <p:sp>
        <p:nvSpPr>
          <p:cNvPr id="10" name="Measure clean-input false alarms an">
            <a:extLst xmlns:a="http://schemas.openxmlformats.org/drawingml/2006/main">
              <a:ext uri="{FF2B5EF4-FFF2-40B4-BE49-F238E27FC236}">
                <a16:creationId xmlns:a16="http://schemas.microsoft.com/office/drawing/2014/main" id="{278D4DFE-B91C-407C-92ED-D5601F5BA996}"/>
              </a:ext>
            </a:extLst>
          </p:cNvPr>
          <p:cNvSpPr>
            <a:spLocks xmlns:a="http://schemas.openxmlformats.org/drawingml/2006/main" noGrp="1"/>
          </p:cNvSpPr>
          <p:nvPr/>
        </p:nvSpPr>
        <p:spPr>
          <a:xfrm xmlns:a="http://schemas.openxmlformats.org/drawingml/2006/main">
            <a:off x="571500" y="389572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15243B"/>
                </a:solidFill>
                <a:latin typeface="Arial"/>
                <a:ea typeface="Arial"/>
                <a:cs typeface="Arial"/>
              </a:defRPr>
            </a:defPPr>
          </a:lstStyle>
          <a:p xmlns:a="http://schemas.openxmlformats.org/drawingml/2006/main">
            <a:pPr>
              <a:defRPr sz="1875" b="0">
                <a:solidFill>
                  <a:srgbClr val="15243B"/>
                </a:solidFill>
                <a:latin typeface="Arial"/>
                <a:ea typeface="Arial"/>
                <a:cs typeface="Arial"/>
              </a:defRPr>
            </a:pPr>
            <a:r>
              <a:rPr sz="1875" b="0">
                <a:solidFill>
                  <a:srgbClr val="15243B"/>
                </a:solidFill>
                <a:latin typeface="Arial"/>
                <a:ea typeface="Arial"/>
                <a:cs typeface="Arial"/>
              </a:rPr>
              <a:t>Measure clean-input false alarms and performance under explicitly synthetic faults.</a:t>
            </a:r>
          </a:p>
        </p:txBody>
      </p:sp>
      <p:sp>
        <p:nvSpPr>
          <p:cNvPr id="11" name="">
            <a:extLst xmlns:a="http://schemas.openxmlformats.org/drawingml/2006/main">
              <a:ext uri="{FF2B5EF4-FFF2-40B4-BE49-F238E27FC236}">
                <a16:creationId xmlns:a16="http://schemas.microsoft.com/office/drawing/2014/main" id="{C181E402-2660-430B-BAAB-2AA56EB98C4B}"/>
              </a:ext>
            </a:extLst>
          </p:cNvPr>
          <p:cNvSpPr>
            <a:spLocks xmlns:a="http://schemas.openxmlformats.org/drawingml/2006/main" noGrp="1"/>
          </p:cNvSpPr>
          <p:nvPr/>
        </p:nvSpPr>
        <p:spPr>
          <a:xfrm xmlns:a="http://schemas.openxmlformats.org/drawingml/2006/main">
            <a:off x="571500" y="4848225"/>
            <a:ext cx="11049000" cy="1028700"/>
          </a:xfrm>
          <a:prstGeom xmlns:a="http://schemas.openxmlformats.org/drawingml/2006/main" prst="rect">
            <a:avLst/>
          </a:prstGeom>
          <a:solidFill xmlns:a="http://schemas.openxmlformats.org/drawingml/2006/main">
            <a:srgbClr val="F1F5F9"/>
          </a:solidFill>
          <a:ln xmlns:a="http://schemas.openxmlformats.org/drawingml/2006/main" w="0">
            <a:noFill/>
          </a:ln>
        </p:spPr>
      </p:sp>
      <p:sp>
        <p:nvSpPr>
          <p:cNvPr id="12" name="Next chapters">
            <a:extLst xmlns:a="http://schemas.openxmlformats.org/drawingml/2006/main">
              <a:ext uri="{FF2B5EF4-FFF2-40B4-BE49-F238E27FC236}">
                <a16:creationId xmlns:a16="http://schemas.microsoft.com/office/drawing/2014/main" id="{EF756931-21CC-4F29-B5D8-E05EFF10B38F}"/>
              </a:ext>
            </a:extLst>
          </p:cNvPr>
          <p:cNvSpPr>
            <a:spLocks xmlns:a="http://schemas.openxmlformats.org/drawingml/2006/main" noGrp="1"/>
          </p:cNvSpPr>
          <p:nvPr/>
        </p:nvSpPr>
        <p:spPr>
          <a:xfrm xmlns:a="http://schemas.openxmlformats.org/drawingml/2006/main">
            <a:off x="742950" y="5029200"/>
            <a:ext cx="2047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1">
                <a:solidFill>
                  <a:srgbClr val="15243B"/>
                </a:solidFill>
                <a:latin typeface="Arial"/>
                <a:ea typeface="Arial"/>
                <a:cs typeface="Arial"/>
              </a:defRPr>
            </a:defPPr>
          </a:lstStyle>
          <a:p xmlns:a="http://schemas.openxmlformats.org/drawingml/2006/main">
            <a:pPr>
              <a:defRPr sz="1875" b="1">
                <a:solidFill>
                  <a:srgbClr val="15243B"/>
                </a:solidFill>
                <a:latin typeface="Arial"/>
                <a:ea typeface="Arial"/>
                <a:cs typeface="Arial"/>
              </a:defRPr>
            </a:pPr>
            <a:r>
              <a:rPr sz="1875" b="1">
                <a:solidFill>
                  <a:srgbClr val="15243B"/>
                </a:solidFill>
                <a:latin typeface="Arial"/>
                <a:ea typeface="Arial"/>
                <a:cs typeface="Arial"/>
              </a:rPr>
              <a:t>Next chapters</a:t>
            </a:r>
          </a:p>
        </p:txBody>
      </p:sp>
      <p:sp>
        <p:nvSpPr>
          <p:cNvPr id="13" name="11 Neural models     12 Clustering ">
            <a:extLst xmlns:a="http://schemas.openxmlformats.org/drawingml/2006/main">
              <a:ext uri="{FF2B5EF4-FFF2-40B4-BE49-F238E27FC236}">
                <a16:creationId xmlns:a16="http://schemas.microsoft.com/office/drawing/2014/main" id="{D02D8F13-3327-4CC7-A97A-85F41763FB78}"/>
              </a:ext>
            </a:extLst>
          </p:cNvPr>
          <p:cNvSpPr>
            <a:spLocks xmlns:a="http://schemas.openxmlformats.org/drawingml/2006/main" noGrp="1"/>
          </p:cNvSpPr>
          <p:nvPr/>
        </p:nvSpPr>
        <p:spPr>
          <a:xfrm xmlns:a="http://schemas.openxmlformats.org/drawingml/2006/main">
            <a:off x="2876550" y="5029200"/>
            <a:ext cx="85439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5243B"/>
                </a:solidFill>
                <a:latin typeface="Arial"/>
                <a:ea typeface="Arial"/>
                <a:cs typeface="Arial"/>
              </a:defRPr>
            </a:defPPr>
          </a:lstStyle>
          <a:p xmlns:a="http://schemas.openxmlformats.org/drawingml/2006/main">
            <a:pPr>
              <a:defRPr sz="1800" b="0">
                <a:solidFill>
                  <a:srgbClr val="15243B"/>
                </a:solidFill>
                <a:latin typeface="Arial"/>
                <a:ea typeface="Arial"/>
                <a:cs typeface="Arial"/>
              </a:defRPr>
            </a:pPr>
            <a:r>
              <a:rPr sz="1800" b="0">
                <a:solidFill>
                  <a:srgbClr val="15243B"/>
                </a:solidFill>
                <a:latin typeface="Arial"/>
                <a:ea typeface="Arial"/>
                <a:cs typeface="Arial"/>
              </a:rPr>
              <a:t>11 Neural models     12 Clustering     14 Feature selection/PCA</a:t>
            </a:r>
          </a:p>
          <a:p xmlns:a="http://schemas.openxmlformats.org/drawingml/2006/main">
            <a:pPr>
              <a:defRPr sz="1800" b="0">
                <a:solidFill>
                  <a:srgbClr val="15243B"/>
                </a:solidFill>
                <a:latin typeface="Arial"/>
                <a:ea typeface="Arial"/>
                <a:cs typeface="Arial"/>
              </a:defRPr>
            </a:pPr>
            <a:r>
              <a:rPr sz="1800" b="0">
                <a:solidFill>
                  <a:srgbClr val="15243B"/>
                </a:solidFill>
                <a:latin typeface="Arial"/>
                <a:ea typeface="Arial"/>
                <a:cs typeface="Arial"/>
              </a:rPr>
              <a:t>15 Anomaly gate      13 Await course material</a:t>
            </a:r>
          </a:p>
        </p:txBody>
      </p:sp>
    </p:spTree>
    <p:extLst>
      <p:ext uri="{BB962C8B-B14F-4D97-AF65-F5344CB8AC3E}">
        <p14:creationId xmlns:p14="http://schemas.microsoft.com/office/powerpoint/2010/main" val="1195161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2026-10-08T15:38:12.9540000Z</dcterms:created>
  <dcterms:modified xsi:type="dcterms:W3CDTF">2026-10-08T15:38:12.9540000Z</dcterms:modified>
</coreProperties>
</file>